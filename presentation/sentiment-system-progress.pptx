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Features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ACA9C"/>
              </a:solidFill>
              <a:ln w="25400" cap="flat">
                <a:solidFill>
                  <a:srgbClr val="111312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9AA197"/>
              </a:solidFill>
              <a:ln w="25400" cap="flat">
                <a:solidFill>
                  <a:srgbClr val="111312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EF775D"/>
              </a:solidFill>
              <a:ln w="25400" cap="flat">
                <a:solidFill>
                  <a:srgbClr val="111312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6E766B"/>
              </a:solidFill>
              <a:ln w="25400" cap="flat">
                <a:solidFill>
                  <a:srgbClr val="111312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E0EA64"/>
              </a:solidFill>
              <a:ln w="25400" cap="flat">
                <a:solidFill>
                  <a:srgbClr val="111312"/>
                </a:solidFill>
                <a:prstDash val="solid"/>
                <a:round/>
              </a:ln>
              <a:effectLst/>
            </c:spPr>
          </c:dPt>
          <c:dPt>
            <c:idx val="5"/>
            <c:bubble3D val="0"/>
            <c:spPr>
              <a:solidFill>
                <a:srgbClr val="3A3D39"/>
              </a:solidFill>
              <a:ln w="25400" cap="flat">
                <a:solidFill>
                  <a:srgbClr val="111312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Complete</c:v>
                </c:pt>
                <c:pt idx="1">
                  <c:v>Queued</c:v>
                </c:pt>
                <c:pt idx="2">
                  <c:v>Blocked</c:v>
                </c:pt>
                <c:pt idx="3">
                  <c:v>Proposed</c:v>
                </c:pt>
                <c:pt idx="4">
                  <c:v>In review / Ready</c:v>
                </c:pt>
                <c:pt idx="5">
                  <c:v>Rejected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21</c:v>
                </c:pt>
                <c:pt idx="1">
                  <c:v>6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1</c:v>
                </c:pt>
              </c:numCache>
            </c:numRef>
          </c:val>
        </c:ser>
        <c:firstSliceAng val="0"/>
        <c:holeSize val="62"/>
      </c:doughnutChart>
      <c:spPr>
        <a:solidFill>
          <a:srgbClr val="111312"/>
        </a:solidFill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solidFill>
      <a:srgbClr val="111312"/>
    </a:solidFill>
    <a:ln w="12700" cap="flat">
      <a:solidFill>
        <a:srgbClr val="363636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3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502920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9AA197"/>
          </a:solidFill>
          <a:ln/>
        </p:spPr>
      </p:sp>
      <p:sp>
        <p:nvSpPr>
          <p:cNvPr id="3" name="Shape 1"/>
          <p:cNvSpPr/>
          <p:nvPr/>
        </p:nvSpPr>
        <p:spPr>
          <a:xfrm>
            <a:off x="9747504" y="502920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E0EA64"/>
          </a:solidFill>
          <a:ln/>
        </p:spPr>
      </p:sp>
      <p:sp>
        <p:nvSpPr>
          <p:cNvPr id="4" name="Shape 2"/>
          <p:cNvSpPr/>
          <p:nvPr/>
        </p:nvSpPr>
        <p:spPr>
          <a:xfrm>
            <a:off x="9985248" y="502920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8ACA9C"/>
          </a:solidFill>
          <a:ln/>
        </p:spPr>
      </p:sp>
      <p:sp>
        <p:nvSpPr>
          <p:cNvPr id="5" name="Shape 3"/>
          <p:cNvSpPr/>
          <p:nvPr/>
        </p:nvSpPr>
        <p:spPr>
          <a:xfrm>
            <a:off x="10222992" y="502920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8ACA9C"/>
          </a:solidFill>
          <a:ln/>
        </p:spPr>
      </p:sp>
      <p:sp>
        <p:nvSpPr>
          <p:cNvPr id="6" name="Shape 4"/>
          <p:cNvSpPr/>
          <p:nvPr/>
        </p:nvSpPr>
        <p:spPr>
          <a:xfrm>
            <a:off x="10460736" y="502920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E0EA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E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SENTIMENT//SYS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688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0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Financial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0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System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343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Snapshot — Ingestion &amp; Chunking · Batch Pipeline · Feature Status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800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Bachelor Thesis  ·  Modular Monolith, Hexagonal Core  ·  RAG + Deterministic Personalization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3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502920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9AA197"/>
          </a:solidFill>
          <a:ln/>
        </p:spPr>
      </p:sp>
      <p:sp>
        <p:nvSpPr>
          <p:cNvPr id="3" name="Shape 1"/>
          <p:cNvSpPr/>
          <p:nvPr/>
        </p:nvSpPr>
        <p:spPr>
          <a:xfrm>
            <a:off x="9747504" y="502920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E0EA64"/>
          </a:solidFill>
          <a:ln/>
        </p:spPr>
      </p:sp>
      <p:sp>
        <p:nvSpPr>
          <p:cNvPr id="4" name="Shape 2"/>
          <p:cNvSpPr/>
          <p:nvPr/>
        </p:nvSpPr>
        <p:spPr>
          <a:xfrm>
            <a:off x="9985248" y="502920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8ACA9C"/>
          </a:solidFill>
          <a:ln/>
        </p:spPr>
      </p:sp>
      <p:sp>
        <p:nvSpPr>
          <p:cNvPr id="5" name="Shape 3"/>
          <p:cNvSpPr/>
          <p:nvPr/>
        </p:nvSpPr>
        <p:spPr>
          <a:xfrm>
            <a:off x="10222992" y="502920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8ACA9C"/>
          </a:solidFill>
          <a:ln/>
        </p:spPr>
      </p:sp>
      <p:sp>
        <p:nvSpPr>
          <p:cNvPr id="6" name="Shape 4"/>
          <p:cNvSpPr/>
          <p:nvPr/>
        </p:nvSpPr>
        <p:spPr>
          <a:xfrm>
            <a:off x="10460736" y="502920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E0EA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E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· STAGE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71323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&amp; Chunking Flow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31520" y="187452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161916"/>
          </a:solidFill>
          <a:ln w="12700">
            <a:solidFill>
              <a:srgbClr val="4146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20756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E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256032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0F1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3017520"/>
            <a:ext cx="211226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Cached SEC filings and investor-relations earnings-call PDFs, each checksum-verified (SHA-256) against a manifest.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264408" y="30632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538728" y="187452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161916"/>
          </a:solidFill>
          <a:ln w="12700">
            <a:solidFill>
              <a:srgbClr val="41464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39896" y="20756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E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739896" y="256032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0F1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739896" y="3017520"/>
            <a:ext cx="211226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 XBRL/HTML, drop paragraphs that repeat 3+ times (headers/footers), quality-gate unreadable content.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071616" y="30632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345936" y="187452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161916"/>
          </a:solidFill>
          <a:ln w="12700">
            <a:solidFill>
              <a:srgbClr val="41464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47104" y="20756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E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547104" y="256032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0F1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547104" y="3017520"/>
            <a:ext cx="211226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 boundaries via regex, abbreviation-aware — “Inc.” or “U.S.” don't cause a false split.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878824" y="306324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153144" y="187452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161916"/>
          </a:solidFill>
          <a:ln w="12700">
            <a:solidFill>
              <a:srgbClr val="41464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54312" y="20756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E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354312" y="2560320"/>
            <a:ext cx="211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0F1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354312" y="3017520"/>
            <a:ext cx="211226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grouping into a chunk: ≤3 sentences or ~2000 tokens, whichever limit is hit first.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5074920"/>
            <a:ext cx="10936224" cy="868680"/>
          </a:xfrm>
          <a:prstGeom prst="roundRect">
            <a:avLst>
              <a:gd name="adj" fmla="val 8421"/>
            </a:avLst>
          </a:prstGeom>
          <a:solidFill>
            <a:srgbClr val="1A1D1A"/>
          </a:solidFill>
          <a:ln w="12700">
            <a:solidFill>
              <a:srgbClr val="41464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0120" y="5230368"/>
            <a:ext cx="10479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0E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detail: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pages are joined into one continuous text stream at extraction time — page numbers and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boundaries are gone before chunking ever runs. A chunk carries no page metadata.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510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SENTIMENT//SYS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247120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3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502920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9AA197"/>
          </a:solidFill>
          <a:ln/>
        </p:spPr>
      </p:sp>
      <p:sp>
        <p:nvSpPr>
          <p:cNvPr id="3" name="Shape 1"/>
          <p:cNvSpPr/>
          <p:nvPr/>
        </p:nvSpPr>
        <p:spPr>
          <a:xfrm>
            <a:off x="9747504" y="502920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E0EA64"/>
          </a:solidFill>
          <a:ln/>
        </p:spPr>
      </p:sp>
      <p:sp>
        <p:nvSpPr>
          <p:cNvPr id="4" name="Shape 2"/>
          <p:cNvSpPr/>
          <p:nvPr/>
        </p:nvSpPr>
        <p:spPr>
          <a:xfrm>
            <a:off x="9985248" y="502920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8ACA9C"/>
          </a:solidFill>
          <a:ln/>
        </p:spPr>
      </p:sp>
      <p:sp>
        <p:nvSpPr>
          <p:cNvPr id="5" name="Shape 3"/>
          <p:cNvSpPr/>
          <p:nvPr/>
        </p:nvSpPr>
        <p:spPr>
          <a:xfrm>
            <a:off x="10222992" y="502920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8ACA9C"/>
          </a:solidFill>
          <a:ln/>
        </p:spPr>
      </p:sp>
      <p:sp>
        <p:nvSpPr>
          <p:cNvPr id="6" name="Shape 4"/>
          <p:cNvSpPr/>
          <p:nvPr/>
        </p:nvSpPr>
        <p:spPr>
          <a:xfrm>
            <a:off x="10460736" y="502920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E0EA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E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· STAGE 1 (DETAIL)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71323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 Rules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6916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0E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RULES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139696"/>
            <a:ext cx="146304" cy="146304"/>
          </a:xfrm>
          <a:prstGeom prst="ellipse">
            <a:avLst/>
          </a:prstGeom>
          <a:solidFill>
            <a:srgbClr val="8ACA9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204825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 split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322576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on . ! ? + whitespace. An abbreviation list ({ e.g., i.e., etc., Inc., Ltd., Co., Corp., U.S., U.K. }) prevents false splits.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2980944"/>
            <a:ext cx="146304" cy="146304"/>
          </a:xfrm>
          <a:prstGeom prst="ellipse">
            <a:avLst/>
          </a:prstGeom>
          <a:solidFill>
            <a:srgbClr val="8ACA9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288950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Long-sentence valve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163824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single “sentence” over ~2000 tokens (e.g. a punctuation-free numeric table) is hard-split at word boundaries.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3822192"/>
            <a:ext cx="146304" cy="146304"/>
          </a:xfrm>
          <a:prstGeom prst="ellipse">
            <a:avLst/>
          </a:prstGeom>
          <a:solidFill>
            <a:srgbClr val="8ACA9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05840" y="37307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grouping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00507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Greedy: add sentences to a chunk until it hits 3 sentences OR ~2000 tokens — whichever comes first.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4663440"/>
            <a:ext cx="146304" cy="146304"/>
          </a:xfrm>
          <a:prstGeom prst="ellipse">
            <a:avLst/>
          </a:prstGeom>
          <a:solidFill>
            <a:srgbClr val="8ACA9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05840" y="45720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Orphan fix-up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48463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lone 1-sentence final chunk borrows one sentence back from the previous chunk.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1520" y="5504688"/>
            <a:ext cx="146304" cy="146304"/>
          </a:xfrm>
          <a:prstGeom prst="ellipse">
            <a:avLst/>
          </a:prstGeom>
          <a:solidFill>
            <a:srgbClr val="EF775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05840" y="54132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 NOT do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568756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overlap between chunks, no page/paragraph awareness, no table-structure awareness.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83680" y="1691640"/>
            <a:ext cx="4846320" cy="4617720"/>
          </a:xfrm>
          <a:prstGeom prst="roundRect">
            <a:avLst>
              <a:gd name="adj" fmla="val 1584"/>
            </a:avLst>
          </a:prstGeom>
          <a:solidFill>
            <a:srgbClr val="161916"/>
          </a:solidFill>
          <a:ln w="12700">
            <a:solidFill>
              <a:srgbClr val="41464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39712" y="1892808"/>
            <a:ext cx="4334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0E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EXAMPLE — AAPL EARNINGS RELEASE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839712" y="2240280"/>
            <a:ext cx="4334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AC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pPr indent="0" marL="0">
              <a:buNone/>
            </a:pPr>
            <a:r>
              <a:rPr lang="en-US" sz="140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chunks from 1 SEC filing</a:t>
            </a:r>
            <a:endParaRPr lang="en-US" sz="4000" dirty="0"/>
          </a:p>
        </p:txBody>
      </p:sp>
      <p:sp>
        <p:nvSpPr>
          <p:cNvPr id="28" name="Text 26"/>
          <p:cNvSpPr txBox="1"/>
          <p:nvPr/>
        </p:nvSpPr>
        <p:spPr>
          <a:xfrm>
            <a:off x="6839712" y="30175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chunk:0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955280" y="29900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0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+ opening 3 sentences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955280" y="3291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 the 3-sentence cap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839712" y="385876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chunk:1–2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955280" y="38313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0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 Cook + CFO quotes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955280" y="41330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 natural chunk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839712" y="470001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chunk:6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955280" y="46725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0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 “Risks and uncertainties…” legal paragraph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955280" y="497433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giant run-on “sentence” (semicolons, not periods) → its own chunk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839712" y="554126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chunk:10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955280" y="55138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0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 financial statements table (balance sheet, cash flow, income)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955280" y="581558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no “. “ pattern → reads as one “sentence”, stayed under the 2000-token cap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510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SENTIMENT//SYS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247120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3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502920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9AA197"/>
          </a:solidFill>
          <a:ln/>
        </p:spPr>
      </p:sp>
      <p:sp>
        <p:nvSpPr>
          <p:cNvPr id="3" name="Shape 1"/>
          <p:cNvSpPr/>
          <p:nvPr/>
        </p:nvSpPr>
        <p:spPr>
          <a:xfrm>
            <a:off x="9747504" y="502920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E0EA64"/>
          </a:solidFill>
          <a:ln/>
        </p:spPr>
      </p:sp>
      <p:sp>
        <p:nvSpPr>
          <p:cNvPr id="4" name="Shape 2"/>
          <p:cNvSpPr/>
          <p:nvPr/>
        </p:nvSpPr>
        <p:spPr>
          <a:xfrm>
            <a:off x="9985248" y="502920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8ACA9C"/>
          </a:solidFill>
          <a:ln/>
        </p:spPr>
      </p:sp>
      <p:sp>
        <p:nvSpPr>
          <p:cNvPr id="5" name="Shape 3"/>
          <p:cNvSpPr/>
          <p:nvPr/>
        </p:nvSpPr>
        <p:spPr>
          <a:xfrm>
            <a:off x="10222992" y="502920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8ACA9C"/>
          </a:solidFill>
          <a:ln/>
        </p:spPr>
      </p:sp>
      <p:sp>
        <p:nvSpPr>
          <p:cNvPr id="6" name="Shape 4"/>
          <p:cNvSpPr/>
          <p:nvPr/>
        </p:nvSpPr>
        <p:spPr>
          <a:xfrm>
            <a:off x="10460736" y="502920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E0EA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E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· STAGE 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71323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Batch Flow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2984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1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/batch/run  →  RunBatch.execute(as_of, company)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1965960"/>
            <a:ext cx="2514600" cy="3063240"/>
          </a:xfrm>
          <a:prstGeom prst="roundRect">
            <a:avLst>
              <a:gd name="adj" fmla="val 2909"/>
            </a:avLst>
          </a:prstGeom>
          <a:solidFill>
            <a:srgbClr val="161916"/>
          </a:solidFill>
          <a:ln w="12700">
            <a:solidFill>
              <a:srgbClr val="414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2167128"/>
            <a:ext cx="310896" cy="310896"/>
          </a:xfrm>
          <a:prstGeom prst="ellipse">
            <a:avLst/>
          </a:prstGeom>
          <a:solidFill>
            <a:srgbClr val="8ACA9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32688" y="2167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3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2587752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0F1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" y="289864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cached.py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932688" y="3264408"/>
            <a:ext cx="21122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+ clean + chunk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(see previous slide).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 SourceDocument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DocumentChunk.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264408" y="32689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538728" y="1965960"/>
            <a:ext cx="2514600" cy="3063240"/>
          </a:xfrm>
          <a:prstGeom prst="roundRect">
            <a:avLst>
              <a:gd name="adj" fmla="val 2909"/>
            </a:avLst>
          </a:prstGeom>
          <a:solidFill>
            <a:srgbClr val="161916"/>
          </a:solidFill>
          <a:ln w="12700">
            <a:solidFill>
              <a:srgbClr val="4146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39896" y="2167128"/>
            <a:ext cx="310896" cy="310896"/>
          </a:xfrm>
          <a:prstGeom prst="ellipse">
            <a:avLst/>
          </a:prstGeom>
          <a:solidFill>
            <a:srgbClr val="8ACA9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739896" y="2167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3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739896" y="2587752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0F1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739896" y="289864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+ Qdrant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739896" y="3264408"/>
            <a:ext cx="21122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each chunk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(nomic-embed-text),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upsert vectors into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Qdrant collection.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071616" y="32689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345936" y="1965960"/>
            <a:ext cx="2514600" cy="3063240"/>
          </a:xfrm>
          <a:prstGeom prst="roundRect">
            <a:avLst>
              <a:gd name="adj" fmla="val 2909"/>
            </a:avLst>
          </a:prstGeom>
          <a:solidFill>
            <a:srgbClr val="161916"/>
          </a:solidFill>
          <a:ln w="12700">
            <a:solidFill>
              <a:srgbClr val="4146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47104" y="2167128"/>
            <a:ext cx="310896" cy="310896"/>
          </a:xfrm>
          <a:prstGeom prst="ellipse">
            <a:avLst/>
          </a:prstGeom>
          <a:solidFill>
            <a:srgbClr val="8ACA9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47104" y="2167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3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547104" y="2587752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0F1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547104" y="289864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 llama3.1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547104" y="3264408"/>
            <a:ext cx="21122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scores each chunk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sentiment + importance.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prompt/response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 persisted.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878824" y="32689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9153144" y="1965960"/>
            <a:ext cx="2514600" cy="3063240"/>
          </a:xfrm>
          <a:prstGeom prst="roundRect">
            <a:avLst>
              <a:gd name="adj" fmla="val 2909"/>
            </a:avLst>
          </a:prstGeom>
          <a:solidFill>
            <a:srgbClr val="161916"/>
          </a:solidFill>
          <a:ln w="12700">
            <a:solidFill>
              <a:srgbClr val="4146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54312" y="2167128"/>
            <a:ext cx="310896" cy="310896"/>
          </a:xfrm>
          <a:prstGeom prst="ellipse">
            <a:avLst/>
          </a:prstGeom>
          <a:solidFill>
            <a:srgbClr val="8ACA9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354312" y="2167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3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354312" y="2587752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0F1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AGGREGATE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9354312" y="2898648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E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deterministic rules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354312" y="3264408"/>
            <a:ext cx="21122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3 snapshots per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— 30 / 90 / 365-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windows — weighted by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recency × importance × confidence.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31520" y="5349240"/>
            <a:ext cx="10936224" cy="777240"/>
          </a:xfrm>
          <a:prstGeom prst="roundRect">
            <a:avLst>
              <a:gd name="adj" fmla="val 9412"/>
            </a:avLst>
          </a:prstGeom>
          <a:solidFill>
            <a:srgbClr val="1A1D1A"/>
          </a:solidFill>
          <a:ln w="12700">
            <a:solidFill>
              <a:srgbClr val="41464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60120" y="5486400"/>
            <a:ext cx="10479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0E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run is recorded as an ExperimentRun (started → completed / failed), with full provenance — prompt, raw model response, and parsed output per chunk.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510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SENTIMENT//SYS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1247120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3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502920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9AA197"/>
          </a:solidFill>
          <a:ln/>
        </p:spPr>
      </p:sp>
      <p:sp>
        <p:nvSpPr>
          <p:cNvPr id="3" name="Shape 1"/>
          <p:cNvSpPr/>
          <p:nvPr/>
        </p:nvSpPr>
        <p:spPr>
          <a:xfrm>
            <a:off x="9747504" y="502920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E0EA64"/>
          </a:solidFill>
          <a:ln/>
        </p:spPr>
      </p:sp>
      <p:sp>
        <p:nvSpPr>
          <p:cNvPr id="4" name="Shape 2"/>
          <p:cNvSpPr/>
          <p:nvPr/>
        </p:nvSpPr>
        <p:spPr>
          <a:xfrm>
            <a:off x="9985248" y="502920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8ACA9C"/>
          </a:solidFill>
          <a:ln/>
        </p:spPr>
      </p:sp>
      <p:sp>
        <p:nvSpPr>
          <p:cNvPr id="5" name="Shape 3"/>
          <p:cNvSpPr/>
          <p:nvPr/>
        </p:nvSpPr>
        <p:spPr>
          <a:xfrm>
            <a:off x="10222992" y="502920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8ACA9C"/>
          </a:solidFill>
          <a:ln/>
        </p:spPr>
      </p:sp>
      <p:sp>
        <p:nvSpPr>
          <p:cNvPr id="6" name="Shape 4"/>
          <p:cNvSpPr/>
          <p:nvPr/>
        </p:nvSpPr>
        <p:spPr>
          <a:xfrm>
            <a:off x="10460736" y="502920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E0EA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E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GOVERNANCE REGISTRY — FEATURES.yaml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71323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Status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92024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8ACA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pPr indent="0" marL="0">
              <a:buNone/>
            </a:pPr>
            <a:r>
              <a:rPr lang="en-US" sz="3400" b="1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34</a:t>
            </a:r>
            <a:endParaRPr lang="en-US" sz="7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063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9AA1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 complete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68503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8ACA9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5840" y="36027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360273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9AA1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31520" y="405079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9AA19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39684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Queued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396849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9AA1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1520" y="441655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EF775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05840" y="43342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433425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9AA1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1520" y="478231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6E76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05840" y="47000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291840" y="470001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9AA1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31520" y="514807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E0EA6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05840" y="50657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review / Ready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3291840" y="506577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9AA1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31520" y="5513832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3A3D3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05840" y="54315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3291840" y="543153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9AA1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6035040" y="1691640"/>
          <a:ext cx="54864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Text 27"/>
          <p:cNvSpPr txBox="1"/>
          <p:nvPr/>
        </p:nvSpPr>
        <p:spPr>
          <a:xfrm>
            <a:off x="457200" y="6510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SENTIMENT//SYS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11247120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3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502920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9AA197"/>
          </a:solidFill>
          <a:ln/>
        </p:spPr>
      </p:sp>
      <p:sp>
        <p:nvSpPr>
          <p:cNvPr id="3" name="Shape 1"/>
          <p:cNvSpPr/>
          <p:nvPr/>
        </p:nvSpPr>
        <p:spPr>
          <a:xfrm>
            <a:off x="9747504" y="502920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E0EA64"/>
          </a:solidFill>
          <a:ln/>
        </p:spPr>
      </p:sp>
      <p:sp>
        <p:nvSpPr>
          <p:cNvPr id="4" name="Shape 2"/>
          <p:cNvSpPr/>
          <p:nvPr/>
        </p:nvSpPr>
        <p:spPr>
          <a:xfrm>
            <a:off x="9985248" y="502920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8ACA9C"/>
          </a:solidFill>
          <a:ln/>
        </p:spPr>
      </p:sp>
      <p:sp>
        <p:nvSpPr>
          <p:cNvPr id="5" name="Shape 3"/>
          <p:cNvSpPr/>
          <p:nvPr/>
        </p:nvSpPr>
        <p:spPr>
          <a:xfrm>
            <a:off x="10222992" y="502920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8ACA9C"/>
          </a:solidFill>
          <a:ln/>
        </p:spPr>
      </p:sp>
      <p:sp>
        <p:nvSpPr>
          <p:cNvPr id="6" name="Shape 4"/>
          <p:cNvSpPr/>
          <p:nvPr/>
        </p:nvSpPr>
        <p:spPr>
          <a:xfrm>
            <a:off x="10460736" y="502920"/>
            <a:ext cx="173736" cy="173736"/>
          </a:xfrm>
          <a:prstGeom prst="roundRect">
            <a:avLst>
              <a:gd name="adj" fmla="val 21053"/>
            </a:avLst>
          </a:prstGeom>
          <a:solidFill>
            <a:srgbClr val="E0EA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E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ACTUALLY BEHIND THE DEMO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7132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Real, Mocked &amp; Not-Yet-Built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31520" y="169164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161916"/>
          </a:solidFill>
          <a:ln w="12700">
            <a:solidFill>
              <a:srgbClr val="4146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29384"/>
            <a:ext cx="201168" cy="201168"/>
          </a:xfrm>
          <a:prstGeom prst="ellipse">
            <a:avLst/>
          </a:prstGeom>
          <a:solidFill>
            <a:srgbClr val="8ACA9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80160" y="1874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0F1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— running demo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05840" y="2432304"/>
            <a:ext cx="73152" cy="73152"/>
          </a:xfrm>
          <a:prstGeom prst="ellipse">
            <a:avLst/>
          </a:prstGeom>
          <a:solidFill>
            <a:srgbClr val="8ACA9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88720" y="22860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Postgres: accounts, theses, documents, chunks, scores, snapshots, runs, provenance, predictions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05840" y="3300984"/>
            <a:ext cx="73152" cy="73152"/>
          </a:xfrm>
          <a:prstGeom prst="ellipse">
            <a:avLst/>
          </a:prstGeom>
          <a:solidFill>
            <a:srgbClr val="8ACA9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88720" y="31546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Qdrant: real vector index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05840" y="4169664"/>
            <a:ext cx="73152" cy="73152"/>
          </a:xfrm>
          <a:prstGeom prst="ellipse">
            <a:avLst/>
          </a:prstGeom>
          <a:solidFill>
            <a:srgbClr val="8ACA9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88720" y="4023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Ollama: real LLM scoring and real embeddings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05840" y="5038344"/>
            <a:ext cx="73152" cy="73152"/>
          </a:xfrm>
          <a:prstGeom prst="ellipse">
            <a:avLst/>
          </a:prstGeom>
          <a:solidFill>
            <a:srgbClr val="8ACA9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88720" y="4892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Cached SEC / IR files, SHA-256 verified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0" y="169164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161916"/>
          </a:solidFill>
          <a:ln w="12700">
            <a:solidFill>
              <a:srgbClr val="4146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9744" y="1929384"/>
            <a:ext cx="201168" cy="201168"/>
          </a:xfrm>
          <a:prstGeom prst="ellipse">
            <a:avLst/>
          </a:prstGeom>
          <a:solidFill>
            <a:srgbClr val="9AA19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120640" y="1874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0F1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FALLBACK — tests / no env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846320" y="2432304"/>
            <a:ext cx="73152" cy="73152"/>
          </a:xfrm>
          <a:prstGeom prst="ellipse">
            <a:avLst/>
          </a:prstGeom>
          <a:solidFill>
            <a:srgbClr val="9AA19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029200" y="22860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repository above swaps to an in-memory fake if DATABASE_URL isn't set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46320" y="3300984"/>
            <a:ext cx="73152" cy="73152"/>
          </a:xfrm>
          <a:prstGeom prst="ellipse">
            <a:avLst/>
          </a:prstGeom>
          <a:solidFill>
            <a:srgbClr val="9AA19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029200" y="31546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hardcoded fixture document if SENTIMENT_DATA_ROOT isn't set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46320" y="4169664"/>
            <a:ext cx="73152" cy="73152"/>
          </a:xfrm>
          <a:prstGeom prst="ellipse">
            <a:avLst/>
          </a:prstGeom>
          <a:solidFill>
            <a:srgbClr val="9AA19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029200" y="4023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(non-LLM) scorer and deterministic embeddings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46320" y="5038344"/>
            <a:ext cx="73152" cy="73152"/>
          </a:xfrm>
          <a:prstGeom prst="ellipse">
            <a:avLst/>
          </a:prstGeom>
          <a:solidFill>
            <a:srgbClr val="9AA19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029200" y="4892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Fail-closed: mocks are outright blocked when APP_ENV=research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412480" y="169164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161916"/>
          </a:solidFill>
          <a:ln w="12700">
            <a:solidFill>
              <a:srgbClr val="4146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50224" y="1929384"/>
            <a:ext cx="201168" cy="201168"/>
          </a:xfrm>
          <a:prstGeom prst="ellipse">
            <a:avLst/>
          </a:prstGeom>
          <a:solidFill>
            <a:srgbClr val="EF775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961120" y="1874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0F1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YET BUILT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686800" y="2432304"/>
            <a:ext cx="73152" cy="73152"/>
          </a:xfrm>
          <a:prstGeom prst="ellipse">
            <a:avLst/>
          </a:prstGeom>
          <a:solidFill>
            <a:srgbClr val="EF775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869680" y="22860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Market-outcome evaluation (blocked — needs final 5-yr corpus)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686800" y="3300984"/>
            <a:ext cx="73152" cy="73152"/>
          </a:xfrm>
          <a:prstGeom prst="ellipse">
            <a:avLst/>
          </a:prstGeom>
          <a:solidFill>
            <a:srgbClr val="EF775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869680" y="31546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licensed data feeds (still SEC/IR cache only)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686800" y="4169664"/>
            <a:ext cx="73152" cy="73152"/>
          </a:xfrm>
          <a:prstGeom prst="ellipse">
            <a:avLst/>
          </a:prstGeom>
          <a:solidFill>
            <a:srgbClr val="EF775D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869680" y="4023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 RAG scoring (current scoring is single-chunk)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686800" y="5038344"/>
            <a:ext cx="73152" cy="73152"/>
          </a:xfrm>
          <a:prstGeom prst="ellipse">
            <a:avLst/>
          </a:prstGeom>
          <a:solidFill>
            <a:srgbClr val="EF775D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869680" y="4892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1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scheduling and observability (manual POST only, no cron/dashboard)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731520" y="62179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the live docker-compose demo runs on real services — the fallbacks only activate in tests or unset-env dev mode.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105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SENTIMENT//SYS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1247120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2026-09-23T13:30:40Z</dcterms:created>
  <dcterms:modified xsi:type="dcterms:W3CDTF">2026-09-23T13:30:40Z</dcterms:modified>
</cp:coreProperties>
</file>