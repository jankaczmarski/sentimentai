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Complete outcomes of 363 records, by horizon</a:t>
            </a:r>
          </a:p>
        </c:rich>
      </c:tx>
      <c:layout/>
      <c:overlay val="0"/>
    </c:title>
    <c:autoTitleDeleted val="0"/>
    <c:plotArea>
      <c:layout/>
      <c:barChart>
        <c:barDir val="col"/>
        <c:grouping val="clustered"/>
        <c:varyColors val="0"/>
        <c:ser>
          <c:idx val="0"/>
          <c:order val="0"/>
          <c:tx>
            <c:strRef>
              <c:f>Sheet1!$B$1</c:f>
              <c:strCache>
                <c:ptCount val="1"/>
                <c:pt idx="0">
                  <c:v>Complete outcomes</c:v>
                </c:pt>
              </c:strCache>
            </c:strRef>
          </c:tx>
          <c:spPr>
            <a:solidFill>
              <a:srgbClr val="1B8F7A"/>
            </a:solidFill>
            <a:effectLst/>
          </c:spPr>
          <c:invertIfNegative val="0"/>
          <c:dLbls>
            <c:numFmt formatCode="#,##0" sourceLinked="0"/>
            <c:txPr>
              <a:bodyPr/>
              <a:lstStyle/>
              <a:p>
                <a:pPr>
                  <a:defRPr b="0" i="0" strike="noStrike" sz="1100" u="none">
                    <a:solidFill>
                      <a:srgbClr val="0F2A3D"/>
                    </a:solidFill>
                    <a:latin typeface="+mn-lt"/>
                  </a:defRPr>
                </a:pPr>
              </a:p>
            </c:txPr>
            <c:showLegendKey val="0"/>
            <c:showVal val="1"/>
            <c:showCatName val="0"/>
            <c:showSerName val="0"/>
            <c:showPercent val="0"/>
            <c:showBubbleSize val="0"/>
            <c:showLeaderLines val="0"/>
          </c:dLbls>
          <c:cat>
            <c:multiLvlStrRef>
              <c:f>Sheet1!$A$2:$A$6</c:f>
              <c:multiLvlStrCache>
                <c:ptCount val="5"/>
                <c:lvl>
                  <c:pt idx="0">
                    <c:v>1 day</c:v>
                  </c:pt>
                  <c:pt idx="1">
                    <c:v>5 days</c:v>
                  </c:pt>
                  <c:pt idx="2">
                    <c:v>20 days</c:v>
                  </c:pt>
                  <c:pt idx="3">
                    <c:v>60 days</c:v>
                  </c:pt>
                  <c:pt idx="4">
                    <c:v>252 days</c:v>
                  </c:pt>
                </c:lvl>
              </c:multiLvlStrCache>
            </c:multiLvlStrRef>
          </c:cat>
          <c:val>
            <c:numRef>
              <c:f>Sheet1!$B$2:$B$6</c:f>
              <c:numCache>
                <c:formatCode>General</c:formatCode>
                <c:ptCount val="5"/>
                <c:pt idx="0">
                  <c:v>363</c:v>
                </c:pt>
                <c:pt idx="1">
                  <c:v>363</c:v>
                </c:pt>
                <c:pt idx="2">
                  <c:v>363</c:v>
                </c:pt>
                <c:pt idx="3">
                  <c:v>348</c:v>
                </c:pt>
                <c:pt idx="4">
                  <c:v>291</c:v>
                </c:pt>
              </c:numCache>
            </c:numRef>
          </c:val>
        </c:ser>
        <c:dLbls>
          <c:numFmt formatCode="#,##0" sourceLinked="0"/>
          <c:txPr>
            <a:bodyPr/>
            <a:lstStyle/>
            <a:p>
              <a:pPr>
                <a:defRPr b="0" i="0" strike="noStrike" sz="1100" u="none">
                  <a:solidFill>
                    <a:srgbClr val="0F2A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6275"/>
                </a:solidFill>
                <a:latin typeface="+mn-lt"/>
              </a:defRPr>
            </a:pPr>
            <a:endParaRPr lang="en-US"/>
          </a:p>
        </c:txPr>
        <c:crossAx val="2094734552"/>
        <c:crosses val="autoZero"/>
        <c:auto val="1"/>
        <c:lblAlgn val="ctr"/>
        <c:noMultiLvlLbl val="1"/>
      </c:catAx>
      <c:valAx>
        <c:axId val="2094734552"/>
        <c:scaling>
          <c:orientation val="minMax"/>
          <c:max val="4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thesis project. This deck covers what exists in code and data today, and what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come from the feature registry (FEATURES.yaml). 29 complete, 1 in review (on-demand ingestion), 2 ready, 4 queued, 3 proposed, 1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and use cases are independent of FastAPI, PostgreSQL, Qdrant and provider SDKs. Everything external sits behind a port. Scheduler and Prometheus/Grafana are not implemented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lives in a separate repository, pinned by research-data.lock.json. The cache also holds AMAT, AMD, ADBE and AMZN history, and the approved company registry lists more tickers. The six-company sample is the research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 2021-08-27 to 2026-08-27. Development ends 2024-08-27; the first held-out publication is 2024-08-28. The split is fixed before evaluation and never tuned. SEC text was re-cleaned with a reviewed implementation (v2) after nine extraction review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is investor-independent: the LLM scores each chunk for polarity, importance and confidence. Stage two applies the thesis deterministically with no further LLM call. Step 5 is marked partial: the standard scoring variant works, while contextual RAG and durable resumable jobs are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version aggregation-personalization-v1, fixed before held-out evaluation. Sensitivity variants (half-life, importance exponent, style weights, threshold shifts) are pre-registered for the development period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API routes plus the mounted Prometheus app and static UI. Thesis and history routes take the api_key as a query parameter; there is no production authentication, by design for the thesis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prediction is built from the latest completed scoring run and returns both base and personalized sentiment with ranked evidence, rule version and run metadata. If no completed run exists the call returns 404; the desired behaviour for that case is still an open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stores its configuration, stage status and provenance (prompt, model, embedding config, source lineage). Failed runs are recorded with the failing stage. The batch runs synchronously inside the HTTP request today; durable, resumable jobs are queued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is the first trading day after publication, so there is no look-ahead. Sector ETF benchmarks (XLC, XLK, XLF, XLY) with SPY as fallback and sensitivity. Variants: base, personalized, keyword baseline and no-signal baseline. Market data is a frozen Nasdaq snapshot with checksums, close prices only, not total return. Longer horizons have fewer complete outcomes because recent filings lack future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mode rejects the deterministic scorer. The Groq demo launcher uses fixtures, ephemeral storage and mock embeddings by default, so it demonstrates the flow, not research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review or ready: on-demand company ingestion, evaluation on real predictions, similarity-based evidence ranking. Queued: contextual RAG scoring, durable resumable scoring jobs, daily scheduler with metrics, UI for the new flow. Proposed: production LLM adapters, Cyfronet-hosted LLM, licensed data providers, handling of unavailable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D"/>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2801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Personalized Financial Sentiment System</a:t>
            </a:r>
            <a:endParaRPr lang="en-US" sz="4400" dirty="0"/>
          </a:p>
        </p:txBody>
      </p:sp>
      <p:sp>
        <p:nvSpPr>
          <p:cNvPr id="3" name="Text 1"/>
          <p:cNvSpPr txBox="1"/>
          <p:nvPr/>
        </p:nvSpPr>
        <p:spPr>
          <a:xfrm>
            <a:off x="640080" y="2788920"/>
            <a:ext cx="7315200" cy="457200"/>
          </a:xfrm>
          <a:prstGeom prst="rect">
            <a:avLst/>
          </a:prstGeom>
          <a:noFill/>
          <a:ln/>
        </p:spPr>
        <p:txBody>
          <a:bodyPr wrap="square" lIns="0" tIns="0" rIns="0" bIns="0" rtlCol="0" anchor="ctr"/>
          <a:lstStyle/>
          <a:p>
            <a:pPr indent="0" marL="0">
              <a:buNone/>
            </a:pPr>
            <a:r>
              <a:rPr lang="en-US" sz="2400" dirty="0">
                <a:solidFill>
                  <a:srgbClr val="7FD6C4"/>
                </a:solidFill>
              </a:rPr>
              <a:t>What we have today</a:t>
            </a:r>
            <a:endParaRPr lang="en-US" sz="2400" dirty="0"/>
          </a:p>
        </p:txBody>
      </p:sp>
      <p:sp>
        <p:nvSpPr>
          <p:cNvPr id="4" name="Text 2"/>
          <p:cNvSpPr txBox="1"/>
          <p:nvPr/>
        </p:nvSpPr>
        <p:spPr>
          <a:xfrm>
            <a:off x="640080" y="3474720"/>
            <a:ext cx="6583680" cy="731520"/>
          </a:xfrm>
          <a:prstGeom prst="rect">
            <a:avLst/>
          </a:prstGeom>
          <a:noFill/>
          <a:ln/>
        </p:spPr>
        <p:txBody>
          <a:bodyPr wrap="square" lIns="0" tIns="0" rIns="0" bIns="0" rtlCol="0" anchor="t"/>
          <a:lstStyle/>
          <a:p>
            <a:pPr indent="0" marL="0">
              <a:buNone/>
            </a:pPr>
            <a:r>
              <a:rPr lang="en-US" sz="1600" dirty="0">
                <a:solidFill>
                  <a:srgbClr val="C9D6DF"/>
                </a:solidFill>
              </a:rPr>
              <a:t>Company sentiment scored once, then personalized to each investor by deterministic rules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Where we are</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2</a:t>
            </a:r>
            <a:endParaRPr lang="en-US" sz="1000" dirty="0"/>
          </a:p>
        </p:txBody>
      </p:sp>
      <p:sp>
        <p:nvSpPr>
          <p:cNvPr id="4" name="Card Complete"/>
          <p:cNvSpPr/>
          <p:nvPr/>
        </p:nvSpPr>
        <p:spPr>
          <a:xfrm>
            <a:off x="457200" y="1280160"/>
            <a:ext cx="1234440" cy="1371600"/>
          </a:xfrm>
          <a:prstGeom prst="roundRect">
            <a:avLst>
              <a:gd name="adj" fmla="val 7407"/>
            </a:avLst>
          </a:prstGeom>
          <a:solidFill>
            <a:srgbClr val="F4F7F9"/>
          </a:solidFill>
          <a:ln w="9525">
            <a:solidFill>
              <a:srgbClr val="D5DEE5"/>
            </a:solidFill>
            <a:prstDash val="solid"/>
          </a:ln>
        </p:spPr>
      </p:sp>
      <p:sp>
        <p:nvSpPr>
          <p:cNvPr id="5" name="Text 3"/>
          <p:cNvSpPr txBox="1"/>
          <p:nvPr/>
        </p:nvSpPr>
        <p:spPr>
          <a:xfrm>
            <a:off x="457200" y="1371600"/>
            <a:ext cx="1234440" cy="731520"/>
          </a:xfrm>
          <a:prstGeom prst="rect">
            <a:avLst/>
          </a:prstGeom>
          <a:noFill/>
          <a:ln/>
        </p:spPr>
        <p:txBody>
          <a:bodyPr wrap="square" lIns="0" tIns="0" rIns="0" bIns="0" rtlCol="0" anchor="ctr"/>
          <a:lstStyle/>
          <a:p>
            <a:pPr algn="ctr" indent="0" marL="0">
              <a:buNone/>
            </a:pPr>
            <a:r>
              <a:rPr lang="en-US" sz="4400" b="1" dirty="0">
                <a:solidFill>
                  <a:srgbClr val="1B8F7A"/>
                </a:solidFill>
                <a:latin typeface="Cambria" pitchFamily="34" charset="0"/>
                <a:ea typeface="Cambria" pitchFamily="34" charset="-122"/>
                <a:cs typeface="Cambria" pitchFamily="34" charset="-120"/>
              </a:rPr>
              <a:t>29</a:t>
            </a:r>
            <a:endParaRPr lang="en-US" sz="4400" dirty="0"/>
          </a:p>
        </p:txBody>
      </p:sp>
      <p:sp>
        <p:nvSpPr>
          <p:cNvPr id="6" name="Text 4"/>
          <p:cNvSpPr txBox="1"/>
          <p:nvPr/>
        </p:nvSpPr>
        <p:spPr>
          <a:xfrm>
            <a:off x="457200" y="2103120"/>
            <a:ext cx="1234440" cy="365760"/>
          </a:xfrm>
          <a:prstGeom prst="rect">
            <a:avLst/>
          </a:prstGeom>
          <a:noFill/>
          <a:ln/>
        </p:spPr>
        <p:txBody>
          <a:bodyPr wrap="square" lIns="0" tIns="0" rIns="0" bIns="0" rtlCol="0" anchor="ctr"/>
          <a:lstStyle/>
          <a:p>
            <a:pPr algn="ctr" indent="0" marL="0">
              <a:buNone/>
            </a:pPr>
            <a:r>
              <a:rPr lang="en-US" sz="1600" dirty="0">
                <a:solidFill>
                  <a:srgbClr val="4A6275"/>
                </a:solidFill>
              </a:rPr>
              <a:t>Complete</a:t>
            </a:r>
            <a:endParaRPr lang="en-US" sz="1600" dirty="0"/>
          </a:p>
        </p:txBody>
      </p:sp>
      <p:sp>
        <p:nvSpPr>
          <p:cNvPr id="7" name="Card In review"/>
          <p:cNvSpPr/>
          <p:nvPr/>
        </p:nvSpPr>
        <p:spPr>
          <a:xfrm>
            <a:off x="1828800" y="1280160"/>
            <a:ext cx="1234440" cy="1371600"/>
          </a:xfrm>
          <a:prstGeom prst="roundRect">
            <a:avLst>
              <a:gd name="adj" fmla="val 7407"/>
            </a:avLst>
          </a:prstGeom>
          <a:solidFill>
            <a:srgbClr val="F4F7F9"/>
          </a:solidFill>
          <a:ln w="9525">
            <a:solidFill>
              <a:srgbClr val="D5DEE5"/>
            </a:solidFill>
            <a:prstDash val="solid"/>
          </a:ln>
        </p:spPr>
      </p:sp>
      <p:sp>
        <p:nvSpPr>
          <p:cNvPr id="8" name="Text 6"/>
          <p:cNvSpPr txBox="1"/>
          <p:nvPr/>
        </p:nvSpPr>
        <p:spPr>
          <a:xfrm>
            <a:off x="1828800" y="1371600"/>
            <a:ext cx="1234440" cy="731520"/>
          </a:xfrm>
          <a:prstGeom prst="rect">
            <a:avLst/>
          </a:prstGeom>
          <a:noFill/>
          <a:ln/>
        </p:spPr>
        <p:txBody>
          <a:bodyPr wrap="square" lIns="0" tIns="0" rIns="0" bIns="0" rtlCol="0" anchor="ctr"/>
          <a:lstStyle/>
          <a:p>
            <a:pPr algn="ctr" indent="0" marL="0">
              <a:buNone/>
            </a:pPr>
            <a:r>
              <a:rPr lang="en-US" sz="4400" b="1" dirty="0">
                <a:solidFill>
                  <a:srgbClr val="E59A1F"/>
                </a:solidFill>
                <a:latin typeface="Cambria" pitchFamily="34" charset="0"/>
                <a:ea typeface="Cambria" pitchFamily="34" charset="-122"/>
                <a:cs typeface="Cambria" pitchFamily="34" charset="-120"/>
              </a:rPr>
              <a:t>1</a:t>
            </a:r>
            <a:endParaRPr lang="en-US" sz="4400" dirty="0"/>
          </a:p>
        </p:txBody>
      </p:sp>
      <p:sp>
        <p:nvSpPr>
          <p:cNvPr id="9" name="Text 7"/>
          <p:cNvSpPr txBox="1"/>
          <p:nvPr/>
        </p:nvSpPr>
        <p:spPr>
          <a:xfrm>
            <a:off x="1828800" y="2103120"/>
            <a:ext cx="1234440" cy="365760"/>
          </a:xfrm>
          <a:prstGeom prst="rect">
            <a:avLst/>
          </a:prstGeom>
          <a:noFill/>
          <a:ln/>
        </p:spPr>
        <p:txBody>
          <a:bodyPr wrap="square" lIns="0" tIns="0" rIns="0" bIns="0" rtlCol="0" anchor="ctr"/>
          <a:lstStyle/>
          <a:p>
            <a:pPr algn="ctr" indent="0" marL="0">
              <a:buNone/>
            </a:pPr>
            <a:r>
              <a:rPr lang="en-US" sz="1600" dirty="0">
                <a:solidFill>
                  <a:srgbClr val="4A6275"/>
                </a:solidFill>
              </a:rPr>
              <a:t>In review</a:t>
            </a:r>
            <a:endParaRPr lang="en-US" sz="1600" dirty="0"/>
          </a:p>
        </p:txBody>
      </p:sp>
      <p:sp>
        <p:nvSpPr>
          <p:cNvPr id="10" name="Card Ready"/>
          <p:cNvSpPr/>
          <p:nvPr/>
        </p:nvSpPr>
        <p:spPr>
          <a:xfrm>
            <a:off x="3200400" y="1280160"/>
            <a:ext cx="1234440" cy="1371600"/>
          </a:xfrm>
          <a:prstGeom prst="roundRect">
            <a:avLst>
              <a:gd name="adj" fmla="val 7407"/>
            </a:avLst>
          </a:prstGeom>
          <a:solidFill>
            <a:srgbClr val="F4F7F9"/>
          </a:solidFill>
          <a:ln w="9525">
            <a:solidFill>
              <a:srgbClr val="D5DEE5"/>
            </a:solidFill>
            <a:prstDash val="solid"/>
          </a:ln>
        </p:spPr>
      </p:sp>
      <p:sp>
        <p:nvSpPr>
          <p:cNvPr id="11" name="Text 9"/>
          <p:cNvSpPr txBox="1"/>
          <p:nvPr/>
        </p:nvSpPr>
        <p:spPr>
          <a:xfrm>
            <a:off x="3200400" y="1371600"/>
            <a:ext cx="1234440" cy="731520"/>
          </a:xfrm>
          <a:prstGeom prst="rect">
            <a:avLst/>
          </a:prstGeom>
          <a:noFill/>
          <a:ln/>
        </p:spPr>
        <p:txBody>
          <a:bodyPr wrap="square" lIns="0" tIns="0" rIns="0" bIns="0" rtlCol="0" anchor="ctr"/>
          <a:lstStyle/>
          <a:p>
            <a:pPr algn="ctr" indent="0" marL="0">
              <a:buNone/>
            </a:pPr>
            <a:r>
              <a:rPr lang="en-US" sz="4400" b="1" dirty="0">
                <a:solidFill>
                  <a:srgbClr val="E59A1F"/>
                </a:solidFill>
                <a:latin typeface="Cambria" pitchFamily="34" charset="0"/>
                <a:ea typeface="Cambria" pitchFamily="34" charset="-122"/>
                <a:cs typeface="Cambria" pitchFamily="34" charset="-120"/>
              </a:rPr>
              <a:t>2</a:t>
            </a:r>
            <a:endParaRPr lang="en-US" sz="4400" dirty="0"/>
          </a:p>
        </p:txBody>
      </p:sp>
      <p:sp>
        <p:nvSpPr>
          <p:cNvPr id="12" name="Text 10"/>
          <p:cNvSpPr txBox="1"/>
          <p:nvPr/>
        </p:nvSpPr>
        <p:spPr>
          <a:xfrm>
            <a:off x="3200400" y="2103120"/>
            <a:ext cx="1234440" cy="365760"/>
          </a:xfrm>
          <a:prstGeom prst="rect">
            <a:avLst/>
          </a:prstGeom>
          <a:noFill/>
          <a:ln/>
        </p:spPr>
        <p:txBody>
          <a:bodyPr wrap="square" lIns="0" tIns="0" rIns="0" bIns="0" rtlCol="0" anchor="ctr"/>
          <a:lstStyle/>
          <a:p>
            <a:pPr algn="ctr" indent="0" marL="0">
              <a:buNone/>
            </a:pPr>
            <a:r>
              <a:rPr lang="en-US" sz="1600" dirty="0">
                <a:solidFill>
                  <a:srgbClr val="4A6275"/>
                </a:solidFill>
              </a:rPr>
              <a:t>Ready</a:t>
            </a:r>
            <a:endParaRPr lang="en-US" sz="1600" dirty="0"/>
          </a:p>
        </p:txBody>
      </p:sp>
      <p:sp>
        <p:nvSpPr>
          <p:cNvPr id="13" name="Card Queued"/>
          <p:cNvSpPr/>
          <p:nvPr/>
        </p:nvSpPr>
        <p:spPr>
          <a:xfrm>
            <a:off x="4572000" y="1280160"/>
            <a:ext cx="1234440" cy="1371600"/>
          </a:xfrm>
          <a:prstGeom prst="roundRect">
            <a:avLst>
              <a:gd name="adj" fmla="val 7407"/>
            </a:avLst>
          </a:prstGeom>
          <a:solidFill>
            <a:srgbClr val="F4F7F9"/>
          </a:solidFill>
          <a:ln w="9525">
            <a:solidFill>
              <a:srgbClr val="D5DEE5"/>
            </a:solidFill>
            <a:prstDash val="solid"/>
          </a:ln>
        </p:spPr>
      </p:sp>
      <p:sp>
        <p:nvSpPr>
          <p:cNvPr id="14" name="Text 12"/>
          <p:cNvSpPr txBox="1"/>
          <p:nvPr/>
        </p:nvSpPr>
        <p:spPr>
          <a:xfrm>
            <a:off x="4572000" y="1371600"/>
            <a:ext cx="1234440" cy="731520"/>
          </a:xfrm>
          <a:prstGeom prst="rect">
            <a:avLst/>
          </a:prstGeom>
          <a:noFill/>
          <a:ln/>
        </p:spPr>
        <p:txBody>
          <a:bodyPr wrap="square" lIns="0" tIns="0" rIns="0" bIns="0" rtlCol="0" anchor="ctr"/>
          <a:lstStyle/>
          <a:p>
            <a:pPr algn="ctr" indent="0" marL="0">
              <a:buNone/>
            </a:pPr>
            <a:r>
              <a:rPr lang="en-US" sz="4400" b="1" dirty="0">
                <a:solidFill>
                  <a:srgbClr val="8795A1"/>
                </a:solidFill>
                <a:latin typeface="Cambria" pitchFamily="34" charset="0"/>
                <a:ea typeface="Cambria" pitchFamily="34" charset="-122"/>
                <a:cs typeface="Cambria" pitchFamily="34" charset="-120"/>
              </a:rPr>
              <a:t>4</a:t>
            </a:r>
            <a:endParaRPr lang="en-US" sz="4400" dirty="0"/>
          </a:p>
        </p:txBody>
      </p:sp>
      <p:sp>
        <p:nvSpPr>
          <p:cNvPr id="15" name="Text 13"/>
          <p:cNvSpPr txBox="1"/>
          <p:nvPr/>
        </p:nvSpPr>
        <p:spPr>
          <a:xfrm>
            <a:off x="4572000" y="2103120"/>
            <a:ext cx="1234440" cy="365760"/>
          </a:xfrm>
          <a:prstGeom prst="rect">
            <a:avLst/>
          </a:prstGeom>
          <a:noFill/>
          <a:ln/>
        </p:spPr>
        <p:txBody>
          <a:bodyPr wrap="square" lIns="0" tIns="0" rIns="0" bIns="0" rtlCol="0" anchor="ctr"/>
          <a:lstStyle/>
          <a:p>
            <a:pPr algn="ctr" indent="0" marL="0">
              <a:buNone/>
            </a:pPr>
            <a:r>
              <a:rPr lang="en-US" sz="1600" dirty="0">
                <a:solidFill>
                  <a:srgbClr val="4A6275"/>
                </a:solidFill>
              </a:rPr>
              <a:t>Queued</a:t>
            </a:r>
            <a:endParaRPr lang="en-US" sz="1600" dirty="0"/>
          </a:p>
        </p:txBody>
      </p:sp>
      <p:sp>
        <p:nvSpPr>
          <p:cNvPr id="16" name="Card Proposed"/>
          <p:cNvSpPr/>
          <p:nvPr/>
        </p:nvSpPr>
        <p:spPr>
          <a:xfrm>
            <a:off x="5943600" y="1280160"/>
            <a:ext cx="1234440" cy="1371600"/>
          </a:xfrm>
          <a:prstGeom prst="roundRect">
            <a:avLst>
              <a:gd name="adj" fmla="val 7407"/>
            </a:avLst>
          </a:prstGeom>
          <a:solidFill>
            <a:srgbClr val="F4F7F9"/>
          </a:solidFill>
          <a:ln w="9525">
            <a:solidFill>
              <a:srgbClr val="D5DEE5"/>
            </a:solidFill>
            <a:prstDash val="solid"/>
          </a:ln>
        </p:spPr>
      </p:sp>
      <p:sp>
        <p:nvSpPr>
          <p:cNvPr id="17" name="Text 15"/>
          <p:cNvSpPr txBox="1"/>
          <p:nvPr/>
        </p:nvSpPr>
        <p:spPr>
          <a:xfrm>
            <a:off x="5943600" y="1371600"/>
            <a:ext cx="1234440" cy="731520"/>
          </a:xfrm>
          <a:prstGeom prst="rect">
            <a:avLst/>
          </a:prstGeom>
          <a:noFill/>
          <a:ln/>
        </p:spPr>
        <p:txBody>
          <a:bodyPr wrap="square" lIns="0" tIns="0" rIns="0" bIns="0" rtlCol="0" anchor="ctr"/>
          <a:lstStyle/>
          <a:p>
            <a:pPr algn="ctr" indent="0" marL="0">
              <a:buNone/>
            </a:pPr>
            <a:r>
              <a:rPr lang="en-US" sz="4400" b="1" dirty="0">
                <a:solidFill>
                  <a:srgbClr val="8795A1"/>
                </a:solidFill>
                <a:latin typeface="Cambria" pitchFamily="34" charset="0"/>
                <a:ea typeface="Cambria" pitchFamily="34" charset="-122"/>
                <a:cs typeface="Cambria" pitchFamily="34" charset="-120"/>
              </a:rPr>
              <a:t>3</a:t>
            </a:r>
            <a:endParaRPr lang="en-US" sz="4400" dirty="0"/>
          </a:p>
        </p:txBody>
      </p:sp>
      <p:sp>
        <p:nvSpPr>
          <p:cNvPr id="18" name="Text 16"/>
          <p:cNvSpPr txBox="1"/>
          <p:nvPr/>
        </p:nvSpPr>
        <p:spPr>
          <a:xfrm>
            <a:off x="5943600" y="2103120"/>
            <a:ext cx="1234440" cy="365760"/>
          </a:xfrm>
          <a:prstGeom prst="rect">
            <a:avLst/>
          </a:prstGeom>
          <a:noFill/>
          <a:ln/>
        </p:spPr>
        <p:txBody>
          <a:bodyPr wrap="square" lIns="0" tIns="0" rIns="0" bIns="0" rtlCol="0" anchor="ctr"/>
          <a:lstStyle/>
          <a:p>
            <a:pPr algn="ctr" indent="0" marL="0">
              <a:buNone/>
            </a:pPr>
            <a:r>
              <a:rPr lang="en-US" sz="1600" dirty="0">
                <a:solidFill>
                  <a:srgbClr val="4A6275"/>
                </a:solidFill>
              </a:rPr>
              <a:t>Proposed</a:t>
            </a:r>
            <a:endParaRPr lang="en-US" sz="1600" dirty="0"/>
          </a:p>
        </p:txBody>
      </p:sp>
      <p:sp>
        <p:nvSpPr>
          <p:cNvPr id="19" name="Card Rejected"/>
          <p:cNvSpPr/>
          <p:nvPr/>
        </p:nvSpPr>
        <p:spPr>
          <a:xfrm>
            <a:off x="7315200" y="1280160"/>
            <a:ext cx="1234440" cy="1371600"/>
          </a:xfrm>
          <a:prstGeom prst="roundRect">
            <a:avLst>
              <a:gd name="adj" fmla="val 7407"/>
            </a:avLst>
          </a:prstGeom>
          <a:solidFill>
            <a:srgbClr val="F4F7F9"/>
          </a:solidFill>
          <a:ln w="9525">
            <a:solidFill>
              <a:srgbClr val="D5DEE5"/>
            </a:solidFill>
            <a:prstDash val="solid"/>
          </a:ln>
        </p:spPr>
      </p:sp>
      <p:sp>
        <p:nvSpPr>
          <p:cNvPr id="20" name="Text 18"/>
          <p:cNvSpPr txBox="1"/>
          <p:nvPr/>
        </p:nvSpPr>
        <p:spPr>
          <a:xfrm>
            <a:off x="7315200" y="1371600"/>
            <a:ext cx="1234440" cy="731520"/>
          </a:xfrm>
          <a:prstGeom prst="rect">
            <a:avLst/>
          </a:prstGeom>
          <a:noFill/>
          <a:ln/>
        </p:spPr>
        <p:txBody>
          <a:bodyPr wrap="square" lIns="0" tIns="0" rIns="0" bIns="0" rtlCol="0" anchor="ctr"/>
          <a:lstStyle/>
          <a:p>
            <a:pPr algn="ctr" indent="0" marL="0">
              <a:buNone/>
            </a:pPr>
            <a:r>
              <a:rPr lang="en-US" sz="4400" b="1" dirty="0">
                <a:solidFill>
                  <a:srgbClr val="8795A1"/>
                </a:solidFill>
                <a:latin typeface="Cambria" pitchFamily="34" charset="0"/>
                <a:ea typeface="Cambria" pitchFamily="34" charset="-122"/>
                <a:cs typeface="Cambria" pitchFamily="34" charset="-120"/>
              </a:rPr>
              <a:t>1</a:t>
            </a:r>
            <a:endParaRPr lang="en-US" sz="4400" dirty="0"/>
          </a:p>
        </p:txBody>
      </p:sp>
      <p:sp>
        <p:nvSpPr>
          <p:cNvPr id="21" name="Text 19"/>
          <p:cNvSpPr txBox="1"/>
          <p:nvPr/>
        </p:nvSpPr>
        <p:spPr>
          <a:xfrm>
            <a:off x="7315200" y="2103120"/>
            <a:ext cx="1234440" cy="365760"/>
          </a:xfrm>
          <a:prstGeom prst="rect">
            <a:avLst/>
          </a:prstGeom>
          <a:noFill/>
          <a:ln/>
        </p:spPr>
        <p:txBody>
          <a:bodyPr wrap="square" lIns="0" tIns="0" rIns="0" bIns="0" rtlCol="0" anchor="ctr"/>
          <a:lstStyle/>
          <a:p>
            <a:pPr algn="ctr" indent="0" marL="0">
              <a:buNone/>
            </a:pPr>
            <a:r>
              <a:rPr lang="en-US" sz="1600" dirty="0">
                <a:solidFill>
                  <a:srgbClr val="4A6275"/>
                </a:solidFill>
              </a:rPr>
              <a:t>Rejected</a:t>
            </a:r>
            <a:endParaRPr lang="en-US" sz="1600" dirty="0"/>
          </a:p>
        </p:txBody>
      </p:sp>
      <p:sp>
        <p:nvSpPr>
          <p:cNvPr id="22" name="Text 20"/>
          <p:cNvSpPr txBox="1"/>
          <p:nvPr/>
        </p:nvSpPr>
        <p:spPr>
          <a:xfrm>
            <a:off x="457200" y="2926080"/>
            <a:ext cx="8229600" cy="365760"/>
          </a:xfrm>
          <a:prstGeom prst="rect">
            <a:avLst/>
          </a:prstGeom>
          <a:noFill/>
          <a:ln/>
        </p:spPr>
        <p:txBody>
          <a:bodyPr wrap="square" lIns="0" tIns="0" rIns="0" bIns="0" rtlCol="0" anchor="ctr"/>
          <a:lstStyle/>
          <a:p>
            <a:pPr indent="0" marL="0">
              <a:buNone/>
            </a:pPr>
            <a:r>
              <a:rPr lang="en-US" sz="1800" b="1" dirty="0">
                <a:solidFill>
                  <a:srgbClr val="0F2A3D"/>
                </a:solidFill>
              </a:rPr>
              <a:t>39 tracked work items</a:t>
            </a:r>
            <a:endParaRPr lang="en-US" sz="1800" dirty="0"/>
          </a:p>
        </p:txBody>
      </p:sp>
      <p:sp>
        <p:nvSpPr>
          <p:cNvPr id="23" name="Text 21"/>
          <p:cNvSpPr txBox="1"/>
          <p:nvPr/>
        </p:nvSpPr>
        <p:spPr>
          <a:xfrm>
            <a:off x="457200" y="3337560"/>
            <a:ext cx="8229600" cy="914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0F2A3D"/>
                </a:solidFill>
              </a:rPr>
              <a:t>Core API, pipeline, storage and data are built</a:t>
            </a:r>
            <a:endParaRPr lang="en-US" sz="1600" dirty="0"/>
          </a:p>
          <a:p>
            <a:pPr marL="342900" indent="-342900">
              <a:spcAft>
                <a:spcPts val="600"/>
              </a:spcAft>
              <a:buSzPct val="100000"/>
              <a:buChar char="•"/>
            </a:pPr>
            <a:r>
              <a:rPr lang="en-US" sz="1600" dirty="0">
                <a:solidFill>
                  <a:srgbClr val="0F2A3D"/>
                </a:solidFill>
              </a:rPr>
              <a:t>Scheduling, observability and production LLM scoring are still open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Architecture</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3</a:t>
            </a:r>
            <a:endParaRPr lang="en-US" sz="1000" dirty="0"/>
          </a:p>
        </p:txBody>
      </p:sp>
      <p:pic>
        <p:nvPicPr>
          <p:cNvPr id="4" name="Architecture diagram" descr="Architecture diagram">    </p:cNvPr>
          <p:cNvPicPr>
            <a:picLocks noChangeAspect="1"/>
          </p:cNvPicPr>
          <p:nvPr/>
        </p:nvPicPr>
        <p:blipFill>
          <a:blip r:embed="rId1"/>
          <a:stretch>
            <a:fillRect/>
          </a:stretch>
        </p:blipFill>
        <p:spPr>
          <a:xfrm>
            <a:off x="457200" y="1089582"/>
            <a:ext cx="8229600" cy="3170076"/>
          </a:xfrm>
          <a:prstGeom prst="rect">
            <a:avLst/>
          </a:prstGeom>
        </p:spPr>
      </p:pic>
      <p:sp>
        <p:nvSpPr>
          <p:cNvPr id="5" name="Shape 2"/>
          <p:cNvSpPr/>
          <p:nvPr/>
        </p:nvSpPr>
        <p:spPr>
          <a:xfrm>
            <a:off x="457200" y="4526280"/>
            <a:ext cx="201168" cy="146304"/>
          </a:xfrm>
          <a:prstGeom prst="rect">
            <a:avLst/>
          </a:prstGeom>
          <a:solidFill>
            <a:srgbClr val="E6F4F1"/>
          </a:solidFill>
          <a:ln w="15875">
            <a:solidFill>
              <a:srgbClr val="1B8F7A"/>
            </a:solidFill>
            <a:prstDash val="solid"/>
          </a:ln>
        </p:spPr>
      </p:sp>
      <p:sp>
        <p:nvSpPr>
          <p:cNvPr id="6" name="Text 3"/>
          <p:cNvSpPr txBox="1"/>
          <p:nvPr/>
        </p:nvSpPr>
        <p:spPr>
          <a:xfrm>
            <a:off x="731520" y="4480560"/>
            <a:ext cx="1463040" cy="237744"/>
          </a:xfrm>
          <a:prstGeom prst="rect">
            <a:avLst/>
          </a:prstGeom>
          <a:noFill/>
          <a:ln/>
        </p:spPr>
        <p:txBody>
          <a:bodyPr wrap="square" lIns="0" tIns="0" rIns="0" bIns="0" rtlCol="0" anchor="ctr"/>
          <a:lstStyle/>
          <a:p>
            <a:pPr indent="0" marL="0">
              <a:buNone/>
            </a:pPr>
            <a:r>
              <a:rPr lang="en-US" sz="1100" dirty="0">
                <a:solidFill>
                  <a:srgbClr val="4A6275"/>
                </a:solidFill>
              </a:rPr>
              <a:t>Working</a:t>
            </a:r>
            <a:endParaRPr lang="en-US" sz="1100" dirty="0"/>
          </a:p>
        </p:txBody>
      </p:sp>
      <p:sp>
        <p:nvSpPr>
          <p:cNvPr id="7" name="Shape 4"/>
          <p:cNvSpPr/>
          <p:nvPr/>
        </p:nvSpPr>
        <p:spPr>
          <a:xfrm>
            <a:off x="1595628" y="4526280"/>
            <a:ext cx="201168" cy="146304"/>
          </a:xfrm>
          <a:prstGeom prst="rect">
            <a:avLst/>
          </a:prstGeom>
          <a:solidFill>
            <a:srgbClr val="FFF3DD"/>
          </a:solidFill>
          <a:ln w="15875">
            <a:solidFill>
              <a:srgbClr val="E59A1F"/>
            </a:solidFill>
            <a:prstDash val="solid"/>
          </a:ln>
        </p:spPr>
      </p:sp>
      <p:sp>
        <p:nvSpPr>
          <p:cNvPr id="8" name="Text 5"/>
          <p:cNvSpPr txBox="1"/>
          <p:nvPr/>
        </p:nvSpPr>
        <p:spPr>
          <a:xfrm>
            <a:off x="1869948" y="4480560"/>
            <a:ext cx="1463040" cy="237744"/>
          </a:xfrm>
          <a:prstGeom prst="rect">
            <a:avLst/>
          </a:prstGeom>
          <a:noFill/>
          <a:ln/>
        </p:spPr>
        <p:txBody>
          <a:bodyPr wrap="square" lIns="0" tIns="0" rIns="0" bIns="0" rtlCol="0" anchor="ctr"/>
          <a:lstStyle/>
          <a:p>
            <a:pPr indent="0" marL="0">
              <a:buNone/>
            </a:pPr>
            <a:r>
              <a:rPr lang="en-US" sz="1100" dirty="0">
                <a:solidFill>
                  <a:srgbClr val="4A6275"/>
                </a:solidFill>
              </a:rPr>
              <a:t>Partial / in review</a:t>
            </a:r>
            <a:endParaRPr lang="en-US" sz="1100" dirty="0"/>
          </a:p>
        </p:txBody>
      </p:sp>
      <p:sp>
        <p:nvSpPr>
          <p:cNvPr id="9" name="Shape 6"/>
          <p:cNvSpPr/>
          <p:nvPr/>
        </p:nvSpPr>
        <p:spPr>
          <a:xfrm>
            <a:off x="3666744" y="4526280"/>
            <a:ext cx="201168" cy="146304"/>
          </a:xfrm>
          <a:prstGeom prst="rect">
            <a:avLst/>
          </a:prstGeom>
          <a:solidFill>
            <a:srgbClr val="F1F3F5"/>
          </a:solidFill>
          <a:ln w="15875">
            <a:solidFill>
              <a:srgbClr val="8795A1"/>
            </a:solidFill>
            <a:prstDash val="dash"/>
          </a:ln>
        </p:spPr>
      </p:sp>
      <p:sp>
        <p:nvSpPr>
          <p:cNvPr id="10" name="Text 7"/>
          <p:cNvSpPr txBox="1"/>
          <p:nvPr/>
        </p:nvSpPr>
        <p:spPr>
          <a:xfrm>
            <a:off x="3941064" y="4480560"/>
            <a:ext cx="1463040" cy="237744"/>
          </a:xfrm>
          <a:prstGeom prst="rect">
            <a:avLst/>
          </a:prstGeom>
          <a:noFill/>
          <a:ln/>
        </p:spPr>
        <p:txBody>
          <a:bodyPr wrap="square" lIns="0" tIns="0" rIns="0" bIns="0" rtlCol="0" anchor="ctr"/>
          <a:lstStyle/>
          <a:p>
            <a:pPr indent="0" marL="0">
              <a:buNone/>
            </a:pPr>
            <a:r>
              <a:rPr lang="en-US" sz="1100" dirty="0">
                <a:solidFill>
                  <a:srgbClr val="4A6275"/>
                </a:solidFill>
              </a:rPr>
              <a:t>Not done</a:t>
            </a:r>
            <a:endParaRPr lang="en-US" sz="1100" dirty="0"/>
          </a:p>
        </p:txBody>
      </p:sp>
      <p:sp>
        <p:nvSpPr>
          <p:cNvPr id="11" name="Text 8"/>
          <p:cNvSpPr txBox="1"/>
          <p:nvPr/>
        </p:nvSpPr>
        <p:spPr>
          <a:xfrm>
            <a:off x="4754880" y="4434840"/>
            <a:ext cx="3566160" cy="320040"/>
          </a:xfrm>
          <a:prstGeom prst="rect">
            <a:avLst/>
          </a:prstGeom>
          <a:noFill/>
          <a:ln/>
        </p:spPr>
        <p:txBody>
          <a:bodyPr wrap="square" lIns="0" tIns="0" rIns="0" bIns="0" rtlCol="0" anchor="ctr"/>
          <a:lstStyle/>
          <a:p>
            <a:pPr algn="r" indent="0" marL="0">
              <a:buNone/>
            </a:pPr>
            <a:r>
              <a:rPr lang="en-US" sz="1400" i="1" dirty="0">
                <a:solidFill>
                  <a:srgbClr val="4A6275"/>
                </a:solidFill>
              </a:rPr>
              <a:t>Modular monolith, hexagonal core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The data we have</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4</a:t>
            </a:r>
            <a:endParaRPr lang="en-US" sz="1000" dirty="0"/>
          </a:p>
        </p:txBody>
      </p:sp>
      <p:pic>
        <p:nvPicPr>
          <p:cNvPr id="4" name="Data diagram" descr="Data diagram">    </p:cNvPr>
          <p:cNvPicPr>
            <a:picLocks noChangeAspect="1"/>
          </p:cNvPicPr>
          <p:nvPr/>
        </p:nvPicPr>
        <p:blipFill>
          <a:blip r:embed="rId1"/>
          <a:stretch>
            <a:fillRect/>
          </a:stretch>
        </p:blipFill>
        <p:spPr>
          <a:xfrm>
            <a:off x="499872" y="1051560"/>
            <a:ext cx="5675376" cy="3474720"/>
          </a:xfrm>
          <a:prstGeom prst="rect">
            <a:avLst/>
          </a:prstGeom>
        </p:spPr>
      </p:pic>
      <p:sp>
        <p:nvSpPr>
          <p:cNvPr id="5" name="Text 2"/>
          <p:cNvSpPr txBox="1"/>
          <p:nvPr/>
        </p:nvSpPr>
        <p:spPr>
          <a:xfrm>
            <a:off x="6583680" y="1097280"/>
            <a:ext cx="2194560" cy="640080"/>
          </a:xfrm>
          <a:prstGeom prst="rect">
            <a:avLst/>
          </a:prstGeom>
          <a:noFill/>
          <a:ln/>
        </p:spPr>
        <p:txBody>
          <a:bodyPr wrap="square" lIns="0" tIns="0" rIns="0" bIns="0" rtlCol="0" anchor="ctr"/>
          <a:lstStyle/>
          <a:p>
            <a:pPr indent="0" marL="0">
              <a:buNone/>
            </a:pPr>
            <a:r>
              <a:rPr lang="en-US" sz="4000" b="1" dirty="0">
                <a:solidFill>
                  <a:srgbClr val="1B8F7A"/>
                </a:solidFill>
                <a:latin typeface="Cambria" pitchFamily="34" charset="0"/>
                <a:ea typeface="Cambria" pitchFamily="34" charset="-122"/>
                <a:cs typeface="Cambria" pitchFamily="34" charset="-120"/>
              </a:rPr>
              <a:t>6</a:t>
            </a:r>
            <a:endParaRPr lang="en-US" sz="4000" dirty="0"/>
          </a:p>
        </p:txBody>
      </p:sp>
      <p:sp>
        <p:nvSpPr>
          <p:cNvPr id="6" name="Text 3"/>
          <p:cNvSpPr txBox="1"/>
          <p:nvPr/>
        </p:nvSpPr>
        <p:spPr>
          <a:xfrm>
            <a:off x="6583680" y="1737360"/>
            <a:ext cx="2194560" cy="457200"/>
          </a:xfrm>
          <a:prstGeom prst="rect">
            <a:avLst/>
          </a:prstGeom>
          <a:noFill/>
          <a:ln/>
        </p:spPr>
        <p:txBody>
          <a:bodyPr wrap="square" lIns="0" tIns="0" rIns="0" bIns="0" rtlCol="0" anchor="t"/>
          <a:lstStyle/>
          <a:p>
            <a:pPr indent="0" marL="0">
              <a:buNone/>
            </a:pPr>
            <a:r>
              <a:rPr lang="en-US" sz="1400" dirty="0">
                <a:solidFill>
                  <a:srgbClr val="4A6275"/>
                </a:solidFill>
              </a:rPr>
              <a:t>core companies: META, CRM, V, DIS, WHR, T</a:t>
            </a:r>
            <a:endParaRPr lang="en-US" sz="1400" dirty="0"/>
          </a:p>
        </p:txBody>
      </p:sp>
      <p:sp>
        <p:nvSpPr>
          <p:cNvPr id="7" name="Text 4"/>
          <p:cNvSpPr txBox="1"/>
          <p:nvPr/>
        </p:nvSpPr>
        <p:spPr>
          <a:xfrm>
            <a:off x="6583680" y="2286000"/>
            <a:ext cx="2194560" cy="640080"/>
          </a:xfrm>
          <a:prstGeom prst="rect">
            <a:avLst/>
          </a:prstGeom>
          <a:noFill/>
          <a:ln/>
        </p:spPr>
        <p:txBody>
          <a:bodyPr wrap="square" lIns="0" tIns="0" rIns="0" bIns="0" rtlCol="0" anchor="ctr"/>
          <a:lstStyle/>
          <a:p>
            <a:pPr indent="0" marL="0">
              <a:buNone/>
            </a:pPr>
            <a:r>
              <a:rPr lang="en-US" sz="4000" b="1" dirty="0">
                <a:solidFill>
                  <a:srgbClr val="1B8F7A"/>
                </a:solidFill>
                <a:latin typeface="Cambria" pitchFamily="34" charset="0"/>
                <a:ea typeface="Cambria" pitchFamily="34" charset="-122"/>
                <a:cs typeface="Cambria" pitchFamily="34" charset="-120"/>
              </a:rPr>
              <a:t>363</a:t>
            </a:r>
            <a:endParaRPr lang="en-US" sz="4000" dirty="0"/>
          </a:p>
        </p:txBody>
      </p:sp>
      <p:sp>
        <p:nvSpPr>
          <p:cNvPr id="8" name="Text 5"/>
          <p:cNvSpPr txBox="1"/>
          <p:nvPr/>
        </p:nvSpPr>
        <p:spPr>
          <a:xfrm>
            <a:off x="6583680" y="2926080"/>
            <a:ext cx="2194560" cy="457200"/>
          </a:xfrm>
          <a:prstGeom prst="rect">
            <a:avLst/>
          </a:prstGeom>
          <a:noFill/>
          <a:ln/>
        </p:spPr>
        <p:txBody>
          <a:bodyPr wrap="square" lIns="0" tIns="0" rIns="0" bIns="0" rtlCol="0" anchor="t"/>
          <a:lstStyle/>
          <a:p>
            <a:pPr indent="0" marL="0">
              <a:buNone/>
            </a:pPr>
            <a:r>
              <a:rPr lang="en-US" sz="1400" dirty="0">
                <a:solidFill>
                  <a:srgbClr val="4A6275"/>
                </a:solidFill>
              </a:rPr>
              <a:t>frozen source records</a:t>
            </a:r>
            <a:endParaRPr lang="en-US" sz="1400" dirty="0"/>
          </a:p>
        </p:txBody>
      </p:sp>
      <p:sp>
        <p:nvSpPr>
          <p:cNvPr id="9" name="Text 6"/>
          <p:cNvSpPr txBox="1"/>
          <p:nvPr/>
        </p:nvSpPr>
        <p:spPr>
          <a:xfrm>
            <a:off x="6583680" y="3474720"/>
            <a:ext cx="2194560" cy="640080"/>
          </a:xfrm>
          <a:prstGeom prst="rect">
            <a:avLst/>
          </a:prstGeom>
          <a:noFill/>
          <a:ln/>
        </p:spPr>
        <p:txBody>
          <a:bodyPr wrap="square" lIns="0" tIns="0" rIns="0" bIns="0" rtlCol="0" anchor="ctr"/>
          <a:lstStyle/>
          <a:p>
            <a:pPr indent="0" marL="0">
              <a:buNone/>
            </a:pPr>
            <a:r>
              <a:rPr lang="en-US" sz="4000" b="1" dirty="0">
                <a:solidFill>
                  <a:srgbClr val="1B8F7A"/>
                </a:solidFill>
                <a:latin typeface="Cambria" pitchFamily="34" charset="0"/>
                <a:ea typeface="Cambria" pitchFamily="34" charset="-122"/>
                <a:cs typeface="Cambria" pitchFamily="34" charset="-120"/>
              </a:rPr>
              <a:t>11</a:t>
            </a:r>
            <a:endParaRPr lang="en-US" sz="4000" dirty="0"/>
          </a:p>
        </p:txBody>
      </p:sp>
      <p:sp>
        <p:nvSpPr>
          <p:cNvPr id="10" name="Text 7"/>
          <p:cNvSpPr txBox="1"/>
          <p:nvPr/>
        </p:nvSpPr>
        <p:spPr>
          <a:xfrm>
            <a:off x="6583680" y="4114800"/>
            <a:ext cx="2194560" cy="457200"/>
          </a:xfrm>
          <a:prstGeom prst="rect">
            <a:avLst/>
          </a:prstGeom>
          <a:noFill/>
          <a:ln/>
        </p:spPr>
        <p:txBody>
          <a:bodyPr wrap="square" lIns="0" tIns="0" rIns="0" bIns="0" rtlCol="0" anchor="t"/>
          <a:lstStyle/>
          <a:p>
            <a:pPr indent="0" marL="0">
              <a:buNone/>
            </a:pPr>
            <a:r>
              <a:rPr lang="en-US" sz="1400" dirty="0">
                <a:solidFill>
                  <a:srgbClr val="4A6275"/>
                </a:solidFill>
              </a:rPr>
              <a:t>daily price series, 2021 to 2026</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Frozen research corpus</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5</a:t>
            </a:r>
            <a:endParaRPr lang="en-US" sz="1000" dirty="0"/>
          </a:p>
        </p:txBody>
      </p:sp>
      <p:sp>
        <p:nvSpPr>
          <p:cNvPr id="4" name="Development period"/>
          <p:cNvSpPr/>
          <p:nvPr/>
        </p:nvSpPr>
        <p:spPr>
          <a:xfrm>
            <a:off x="457200" y="1554480"/>
            <a:ext cx="4937760" cy="548640"/>
          </a:xfrm>
          <a:prstGeom prst="rect">
            <a:avLst/>
          </a:prstGeom>
          <a:solidFill>
            <a:srgbClr val="1B8F7A"/>
          </a:solidFill>
          <a:ln w="12700">
            <a:solidFill>
              <a:srgbClr val="1B8F7A"/>
            </a:solidFill>
            <a:prstDash val="solid"/>
          </a:ln>
        </p:spPr>
      </p:sp>
      <p:sp>
        <p:nvSpPr>
          <p:cNvPr id="5" name="Held-out period"/>
          <p:cNvSpPr/>
          <p:nvPr/>
        </p:nvSpPr>
        <p:spPr>
          <a:xfrm>
            <a:off x="5394960" y="1554480"/>
            <a:ext cx="3291840" cy="548640"/>
          </a:xfrm>
          <a:prstGeom prst="rect">
            <a:avLst/>
          </a:prstGeom>
          <a:solidFill>
            <a:srgbClr val="E59A1F"/>
          </a:solidFill>
          <a:ln w="12700">
            <a:solidFill>
              <a:srgbClr val="E59A1F"/>
            </a:solidFill>
            <a:prstDash val="solid"/>
          </a:ln>
        </p:spPr>
      </p:sp>
      <p:sp>
        <p:nvSpPr>
          <p:cNvPr id="6" name="Text 4"/>
          <p:cNvSpPr txBox="1"/>
          <p:nvPr/>
        </p:nvSpPr>
        <p:spPr>
          <a:xfrm>
            <a:off x="457200" y="1554480"/>
            <a:ext cx="4937760" cy="548640"/>
          </a:xfrm>
          <a:prstGeom prst="rect">
            <a:avLst/>
          </a:prstGeom>
          <a:noFill/>
          <a:ln/>
        </p:spPr>
        <p:txBody>
          <a:bodyPr wrap="square" lIns="0" tIns="0" rIns="0" bIns="0" rtlCol="0" anchor="ctr"/>
          <a:lstStyle/>
          <a:p>
            <a:pPr algn="ctr" indent="0" marL="0">
              <a:buNone/>
            </a:pPr>
            <a:r>
              <a:rPr lang="en-US" sz="1600" b="1" dirty="0">
                <a:solidFill>
                  <a:srgbClr val="FFFFFF"/>
                </a:solidFill>
              </a:rPr>
              <a:t>Development</a:t>
            </a:r>
            <a:endParaRPr lang="en-US" sz="1600" dirty="0"/>
          </a:p>
        </p:txBody>
      </p:sp>
      <p:sp>
        <p:nvSpPr>
          <p:cNvPr id="7" name="Text 5"/>
          <p:cNvSpPr txBox="1"/>
          <p:nvPr/>
        </p:nvSpPr>
        <p:spPr>
          <a:xfrm>
            <a:off x="5394960" y="1554480"/>
            <a:ext cx="3291840" cy="548640"/>
          </a:xfrm>
          <a:prstGeom prst="rect">
            <a:avLst/>
          </a:prstGeom>
          <a:noFill/>
          <a:ln/>
        </p:spPr>
        <p:txBody>
          <a:bodyPr wrap="square" lIns="0" tIns="0" rIns="0" bIns="0" rtlCol="0" anchor="ctr"/>
          <a:lstStyle/>
          <a:p>
            <a:pPr algn="ctr" indent="0" marL="0">
              <a:buNone/>
            </a:pPr>
            <a:r>
              <a:rPr lang="en-US" sz="1600" b="1" dirty="0">
                <a:solidFill>
                  <a:srgbClr val="0F2A3D"/>
                </a:solidFill>
              </a:rPr>
              <a:t>Held-out</a:t>
            </a:r>
            <a:endParaRPr lang="en-US" sz="1600" dirty="0"/>
          </a:p>
        </p:txBody>
      </p:sp>
      <p:sp>
        <p:nvSpPr>
          <p:cNvPr id="8" name="Text 6"/>
          <p:cNvSpPr txBox="1"/>
          <p:nvPr/>
        </p:nvSpPr>
        <p:spPr>
          <a:xfrm>
            <a:off x="457200" y="2194560"/>
            <a:ext cx="1463040" cy="274320"/>
          </a:xfrm>
          <a:prstGeom prst="rect">
            <a:avLst/>
          </a:prstGeom>
          <a:noFill/>
          <a:ln/>
        </p:spPr>
        <p:txBody>
          <a:bodyPr wrap="square" lIns="0" tIns="0" rIns="0" bIns="0" rtlCol="0" anchor="ctr"/>
          <a:lstStyle/>
          <a:p>
            <a:pPr algn="l" indent="0" marL="0">
              <a:buNone/>
            </a:pPr>
            <a:r>
              <a:rPr lang="en-US" sz="1300" dirty="0">
                <a:solidFill>
                  <a:srgbClr val="4A6275"/>
                </a:solidFill>
              </a:rPr>
              <a:t>2021-08-27</a:t>
            </a:r>
            <a:endParaRPr lang="en-US" sz="1300" dirty="0"/>
          </a:p>
        </p:txBody>
      </p:sp>
      <p:sp>
        <p:nvSpPr>
          <p:cNvPr id="9" name="Text 7"/>
          <p:cNvSpPr txBox="1"/>
          <p:nvPr/>
        </p:nvSpPr>
        <p:spPr>
          <a:xfrm>
            <a:off x="4663440" y="2194560"/>
            <a:ext cx="1463040" cy="274320"/>
          </a:xfrm>
          <a:prstGeom prst="rect">
            <a:avLst/>
          </a:prstGeom>
          <a:noFill/>
          <a:ln/>
        </p:spPr>
        <p:txBody>
          <a:bodyPr wrap="square" lIns="0" tIns="0" rIns="0" bIns="0" rtlCol="0" anchor="ctr"/>
          <a:lstStyle/>
          <a:p>
            <a:pPr algn="ctr" indent="0" marL="0">
              <a:buNone/>
            </a:pPr>
            <a:r>
              <a:rPr lang="en-US" sz="1300" dirty="0">
                <a:solidFill>
                  <a:srgbClr val="4A6275"/>
                </a:solidFill>
              </a:rPr>
              <a:t>2024-08-27</a:t>
            </a:r>
            <a:endParaRPr lang="en-US" sz="1300" dirty="0"/>
          </a:p>
        </p:txBody>
      </p:sp>
      <p:sp>
        <p:nvSpPr>
          <p:cNvPr id="10" name="Text 8"/>
          <p:cNvSpPr txBox="1"/>
          <p:nvPr/>
        </p:nvSpPr>
        <p:spPr>
          <a:xfrm>
            <a:off x="7223760" y="2194560"/>
            <a:ext cx="1463040" cy="274320"/>
          </a:xfrm>
          <a:prstGeom prst="rect">
            <a:avLst/>
          </a:prstGeom>
          <a:noFill/>
          <a:ln/>
        </p:spPr>
        <p:txBody>
          <a:bodyPr wrap="square" lIns="0" tIns="0" rIns="0" bIns="0" rtlCol="0" anchor="ctr"/>
          <a:lstStyle/>
          <a:p>
            <a:pPr algn="r" indent="0" marL="0">
              <a:buNone/>
            </a:pPr>
            <a:r>
              <a:rPr lang="en-US" sz="1300" dirty="0">
                <a:solidFill>
                  <a:srgbClr val="4A6275"/>
                </a:solidFill>
              </a:rPr>
              <a:t>2026-08-27</a:t>
            </a:r>
            <a:endParaRPr lang="en-US" sz="1300" dirty="0"/>
          </a:p>
        </p:txBody>
      </p:sp>
      <p:sp>
        <p:nvSpPr>
          <p:cNvPr id="11" name="Text 9"/>
          <p:cNvSpPr txBox="1"/>
          <p:nvPr/>
        </p:nvSpPr>
        <p:spPr>
          <a:xfrm>
            <a:off x="457200" y="2834640"/>
            <a:ext cx="2560320" cy="640080"/>
          </a:xfrm>
          <a:prstGeom prst="rect">
            <a:avLst/>
          </a:prstGeom>
          <a:noFill/>
          <a:ln/>
        </p:spPr>
        <p:txBody>
          <a:bodyPr wrap="square" lIns="0" tIns="0" rIns="0" bIns="0" rtlCol="0" anchor="ctr"/>
          <a:lstStyle/>
          <a:p>
            <a:pPr indent="0" marL="0">
              <a:buNone/>
            </a:pPr>
            <a:r>
              <a:rPr lang="en-US" sz="4000" b="1" dirty="0">
                <a:solidFill>
                  <a:srgbClr val="1B8F7A"/>
                </a:solidFill>
                <a:latin typeface="Cambria" pitchFamily="34" charset="0"/>
                <a:ea typeface="Cambria" pitchFamily="34" charset="-122"/>
                <a:cs typeface="Cambria" pitchFamily="34" charset="-120"/>
              </a:rPr>
              <a:t>363</a:t>
            </a:r>
            <a:endParaRPr lang="en-US" sz="4000" dirty="0"/>
          </a:p>
        </p:txBody>
      </p:sp>
      <p:sp>
        <p:nvSpPr>
          <p:cNvPr id="12" name="Text 10"/>
          <p:cNvSpPr txBox="1"/>
          <p:nvPr/>
        </p:nvSpPr>
        <p:spPr>
          <a:xfrm>
            <a:off x="457200" y="3474720"/>
            <a:ext cx="2560320" cy="457200"/>
          </a:xfrm>
          <a:prstGeom prst="rect">
            <a:avLst/>
          </a:prstGeom>
          <a:noFill/>
          <a:ln/>
        </p:spPr>
        <p:txBody>
          <a:bodyPr wrap="square" lIns="0" tIns="0" rIns="0" bIns="0" rtlCol="0" anchor="t"/>
          <a:lstStyle/>
          <a:p>
            <a:pPr indent="0" marL="0">
              <a:buNone/>
            </a:pPr>
            <a:r>
              <a:rPr lang="en-US" sz="1400" dirty="0">
                <a:solidFill>
                  <a:srgbClr val="4A6275"/>
                </a:solidFill>
              </a:rPr>
              <a:t>records, all checksummed</a:t>
            </a:r>
            <a:endParaRPr lang="en-US" sz="1400" dirty="0"/>
          </a:p>
        </p:txBody>
      </p:sp>
      <p:sp>
        <p:nvSpPr>
          <p:cNvPr id="13" name="Text 11"/>
          <p:cNvSpPr txBox="1"/>
          <p:nvPr/>
        </p:nvSpPr>
        <p:spPr>
          <a:xfrm>
            <a:off x="3291840" y="2834640"/>
            <a:ext cx="2560320" cy="640080"/>
          </a:xfrm>
          <a:prstGeom prst="rect">
            <a:avLst/>
          </a:prstGeom>
          <a:noFill/>
          <a:ln/>
        </p:spPr>
        <p:txBody>
          <a:bodyPr wrap="square" lIns="0" tIns="0" rIns="0" bIns="0" rtlCol="0" anchor="ctr"/>
          <a:lstStyle/>
          <a:p>
            <a:pPr indent="0" marL="0">
              <a:buNone/>
            </a:pPr>
            <a:r>
              <a:rPr lang="en-US" sz="4000" b="1" dirty="0">
                <a:solidFill>
                  <a:srgbClr val="1B8F7A"/>
                </a:solidFill>
                <a:latin typeface="Cambria" pitchFamily="34" charset="0"/>
                <a:ea typeface="Cambria" pitchFamily="34" charset="-122"/>
                <a:cs typeface="Cambria" pitchFamily="34" charset="-120"/>
              </a:rPr>
              <a:t>147</a:t>
            </a:r>
            <a:endParaRPr lang="en-US" sz="4000" dirty="0"/>
          </a:p>
        </p:txBody>
      </p:sp>
      <p:sp>
        <p:nvSpPr>
          <p:cNvPr id="14" name="Text 12"/>
          <p:cNvSpPr txBox="1"/>
          <p:nvPr/>
        </p:nvSpPr>
        <p:spPr>
          <a:xfrm>
            <a:off x="3291840" y="3474720"/>
            <a:ext cx="2560320" cy="457200"/>
          </a:xfrm>
          <a:prstGeom prst="rect">
            <a:avLst/>
          </a:prstGeom>
          <a:noFill/>
          <a:ln/>
        </p:spPr>
        <p:txBody>
          <a:bodyPr wrap="square" lIns="0" tIns="0" rIns="0" bIns="0" rtlCol="0" anchor="t"/>
          <a:lstStyle/>
          <a:p>
            <a:pPr indent="0" marL="0">
              <a:buNone/>
            </a:pPr>
            <a:r>
              <a:rPr lang="en-US" sz="1400" dirty="0">
                <a:solidFill>
                  <a:srgbClr val="4A6275"/>
                </a:solidFill>
              </a:rPr>
              <a:t>held-out records</a:t>
            </a:r>
            <a:endParaRPr lang="en-US" sz="1400" dirty="0"/>
          </a:p>
        </p:txBody>
      </p:sp>
      <p:sp>
        <p:nvSpPr>
          <p:cNvPr id="15" name="Text 13"/>
          <p:cNvSpPr txBox="1"/>
          <p:nvPr/>
        </p:nvSpPr>
        <p:spPr>
          <a:xfrm>
            <a:off x="6126480" y="2834640"/>
            <a:ext cx="2560320" cy="640080"/>
          </a:xfrm>
          <a:prstGeom prst="rect">
            <a:avLst/>
          </a:prstGeom>
          <a:noFill/>
          <a:ln/>
        </p:spPr>
        <p:txBody>
          <a:bodyPr wrap="square" lIns="0" tIns="0" rIns="0" bIns="0" rtlCol="0" anchor="ctr"/>
          <a:lstStyle/>
          <a:p>
            <a:pPr indent="0" marL="0">
              <a:buNone/>
            </a:pPr>
            <a:r>
              <a:rPr lang="en-US" sz="4000" b="1" dirty="0">
                <a:solidFill>
                  <a:srgbClr val="1B8F7A"/>
                </a:solidFill>
                <a:latin typeface="Cambria" pitchFamily="34" charset="0"/>
                <a:ea typeface="Cambria" pitchFamily="34" charset="-122"/>
                <a:cs typeface="Cambria" pitchFamily="34" charset="-120"/>
              </a:rPr>
              <a:t>20</a:t>
            </a:r>
            <a:endParaRPr lang="en-US" sz="4000" dirty="0"/>
          </a:p>
        </p:txBody>
      </p:sp>
      <p:sp>
        <p:nvSpPr>
          <p:cNvPr id="16" name="Text 14"/>
          <p:cNvSpPr txBox="1"/>
          <p:nvPr/>
        </p:nvSpPr>
        <p:spPr>
          <a:xfrm>
            <a:off x="6126480" y="3474720"/>
            <a:ext cx="2560320" cy="457200"/>
          </a:xfrm>
          <a:prstGeom prst="rect">
            <a:avLst/>
          </a:prstGeom>
          <a:noFill/>
          <a:ln/>
        </p:spPr>
        <p:txBody>
          <a:bodyPr wrap="square" lIns="0" tIns="0" rIns="0" bIns="0" rtlCol="0" anchor="t"/>
          <a:lstStyle/>
          <a:p>
            <a:pPr indent="0" marL="0">
              <a:buNone/>
            </a:pPr>
            <a:r>
              <a:rPr lang="en-US" sz="1400" dirty="0">
                <a:solidFill>
                  <a:srgbClr val="4A6275"/>
                </a:solidFill>
              </a:rPr>
              <a:t>call transcripts per company</a:t>
            </a:r>
            <a:endParaRPr lang="en-US" sz="1400" dirty="0"/>
          </a:p>
        </p:txBody>
      </p:sp>
      <p:sp>
        <p:nvSpPr>
          <p:cNvPr id="17" name="Text 15"/>
          <p:cNvSpPr txBox="1"/>
          <p:nvPr/>
        </p:nvSpPr>
        <p:spPr>
          <a:xfrm>
            <a:off x="457200" y="4114800"/>
            <a:ext cx="8229600" cy="320040"/>
          </a:xfrm>
          <a:prstGeom prst="rect">
            <a:avLst/>
          </a:prstGeom>
          <a:noFill/>
          <a:ln/>
        </p:spPr>
        <p:txBody>
          <a:bodyPr wrap="square" lIns="0" tIns="0" rIns="0" bIns="0" rtlCol="0" anchor="ctr"/>
          <a:lstStyle/>
          <a:p>
            <a:pPr indent="0" marL="0">
              <a:buNone/>
            </a:pPr>
            <a:r>
              <a:rPr lang="en-US" sz="1400" dirty="0">
                <a:solidFill>
                  <a:srgbClr val="4A6275"/>
                </a:solidFill>
              </a:rPr>
              <a:t>Per company: 5 10-Ks, about 15 10-Qs, about 20 earnings releases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From document to prediction</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6</a:t>
            </a:r>
            <a:endParaRPr lang="en-US" sz="1000" dirty="0"/>
          </a:p>
        </p:txBody>
      </p:sp>
      <p:sp>
        <p:nvSpPr>
          <p:cNvPr id="4" name="Step 1"/>
          <p:cNvSpPr/>
          <p:nvPr/>
        </p:nvSpPr>
        <p:spPr>
          <a:xfrm>
            <a:off x="457200" y="1188720"/>
            <a:ext cx="1828800" cy="1188720"/>
          </a:xfrm>
          <a:prstGeom prst="roundRect">
            <a:avLst>
              <a:gd name="adj" fmla="val 7692"/>
            </a:avLst>
          </a:prstGeom>
          <a:solidFill>
            <a:srgbClr val="E6F4F1"/>
          </a:solidFill>
          <a:ln w="19050">
            <a:solidFill>
              <a:srgbClr val="1B8F7A"/>
            </a:solidFill>
            <a:prstDash val="solid"/>
          </a:ln>
        </p:spPr>
      </p:sp>
      <p:sp>
        <p:nvSpPr>
          <p:cNvPr id="5" name="Badge 1"/>
          <p:cNvSpPr/>
          <p:nvPr/>
        </p:nvSpPr>
        <p:spPr>
          <a:xfrm>
            <a:off x="566928" y="1298448"/>
            <a:ext cx="292608" cy="292608"/>
          </a:xfrm>
          <a:prstGeom prst="ellipse">
            <a:avLst/>
          </a:prstGeom>
          <a:solidFill>
            <a:srgbClr val="1B8F7A"/>
          </a:solidFill>
          <a:ln w="12700">
            <a:solidFill>
              <a:srgbClr val="1B8F7A"/>
            </a:solidFill>
            <a:prstDash val="solid"/>
          </a:ln>
        </p:spPr>
      </p:sp>
      <p:sp>
        <p:nvSpPr>
          <p:cNvPr id="6" name="Text 4"/>
          <p:cNvSpPr txBox="1"/>
          <p:nvPr/>
        </p:nvSpPr>
        <p:spPr>
          <a:xfrm>
            <a:off x="566928" y="1298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594360" y="164592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Raw document</a:t>
            </a:r>
            <a:endParaRPr lang="en-US" sz="1400" dirty="0"/>
          </a:p>
        </p:txBody>
      </p:sp>
      <p:sp>
        <p:nvSpPr>
          <p:cNvPr id="8" name="Text 6"/>
          <p:cNvSpPr txBox="1"/>
          <p:nvPr/>
        </p:nvSpPr>
        <p:spPr>
          <a:xfrm>
            <a:off x="594360" y="1920240"/>
            <a:ext cx="1600200" cy="411480"/>
          </a:xfrm>
          <a:prstGeom prst="rect">
            <a:avLst/>
          </a:prstGeom>
          <a:noFill/>
          <a:ln/>
        </p:spPr>
        <p:txBody>
          <a:bodyPr wrap="square" lIns="0" tIns="0" rIns="0" bIns="0" rtlCol="0" anchor="t"/>
          <a:lstStyle/>
          <a:p>
            <a:pPr indent="0" marL="0">
              <a:buNone/>
            </a:pPr>
            <a:r>
              <a:rPr lang="en-US" sz="1100" dirty="0">
                <a:solidFill>
                  <a:srgbClr val="4A6275"/>
                </a:solidFill>
              </a:rPr>
              <a:t>SEC + IR text</a:t>
            </a:r>
            <a:endParaRPr lang="en-US" sz="1100" dirty="0"/>
          </a:p>
        </p:txBody>
      </p:sp>
      <p:sp>
        <p:nvSpPr>
          <p:cNvPr id="9" name="Text 7"/>
          <p:cNvSpPr txBox="1"/>
          <p:nvPr/>
        </p:nvSpPr>
        <p:spPr>
          <a:xfrm>
            <a:off x="2286000" y="1508760"/>
            <a:ext cx="274320" cy="457200"/>
          </a:xfrm>
          <a:prstGeom prst="rect">
            <a:avLst/>
          </a:prstGeom>
          <a:noFill/>
          <a:ln/>
        </p:spPr>
        <p:txBody>
          <a:bodyPr wrap="square" lIns="0" tIns="0" rIns="0" bIns="0" rtlCol="0" anchor="ctr"/>
          <a:lstStyle/>
          <a:p>
            <a:pPr algn="ctr" indent="0" marL="0">
              <a:buNone/>
            </a:pPr>
            <a:r>
              <a:rPr lang="en-US" sz="2400" b="1" dirty="0">
                <a:solidFill>
                  <a:srgbClr val="4A6275"/>
                </a:solidFill>
              </a:rPr>
              <a:t>›</a:t>
            </a:r>
            <a:endParaRPr lang="en-US" sz="2400" dirty="0"/>
          </a:p>
        </p:txBody>
      </p:sp>
      <p:sp>
        <p:nvSpPr>
          <p:cNvPr id="10" name="Step 2"/>
          <p:cNvSpPr/>
          <p:nvPr/>
        </p:nvSpPr>
        <p:spPr>
          <a:xfrm>
            <a:off x="2560320" y="1188720"/>
            <a:ext cx="1828800" cy="1188720"/>
          </a:xfrm>
          <a:prstGeom prst="roundRect">
            <a:avLst>
              <a:gd name="adj" fmla="val 7692"/>
            </a:avLst>
          </a:prstGeom>
          <a:solidFill>
            <a:srgbClr val="E6F4F1"/>
          </a:solidFill>
          <a:ln w="19050">
            <a:solidFill>
              <a:srgbClr val="1B8F7A"/>
            </a:solidFill>
            <a:prstDash val="solid"/>
          </a:ln>
        </p:spPr>
      </p:sp>
      <p:sp>
        <p:nvSpPr>
          <p:cNvPr id="11" name="Badge 2"/>
          <p:cNvSpPr/>
          <p:nvPr/>
        </p:nvSpPr>
        <p:spPr>
          <a:xfrm>
            <a:off x="2670048" y="1298448"/>
            <a:ext cx="292608" cy="292608"/>
          </a:xfrm>
          <a:prstGeom prst="ellipse">
            <a:avLst/>
          </a:prstGeom>
          <a:solidFill>
            <a:srgbClr val="1B8F7A"/>
          </a:solidFill>
          <a:ln w="12700">
            <a:solidFill>
              <a:srgbClr val="1B8F7A"/>
            </a:solidFill>
            <a:prstDash val="solid"/>
          </a:ln>
        </p:spPr>
      </p:sp>
      <p:sp>
        <p:nvSpPr>
          <p:cNvPr id="12" name="Text 10"/>
          <p:cNvSpPr txBox="1"/>
          <p:nvPr/>
        </p:nvSpPr>
        <p:spPr>
          <a:xfrm>
            <a:off x="2670048" y="1298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1"/>
          <p:cNvSpPr txBox="1"/>
          <p:nvPr/>
        </p:nvSpPr>
        <p:spPr>
          <a:xfrm>
            <a:off x="2697480" y="164592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Clean + gate</a:t>
            </a:r>
            <a:endParaRPr lang="en-US" sz="1400" dirty="0"/>
          </a:p>
        </p:txBody>
      </p:sp>
      <p:sp>
        <p:nvSpPr>
          <p:cNvPr id="14" name="Text 12"/>
          <p:cNvSpPr txBox="1"/>
          <p:nvPr/>
        </p:nvSpPr>
        <p:spPr>
          <a:xfrm>
            <a:off x="2697480" y="1920240"/>
            <a:ext cx="1600200" cy="411480"/>
          </a:xfrm>
          <a:prstGeom prst="rect">
            <a:avLst/>
          </a:prstGeom>
          <a:noFill/>
          <a:ln/>
        </p:spPr>
        <p:txBody>
          <a:bodyPr wrap="square" lIns="0" tIns="0" rIns="0" bIns="0" rtlCol="0" anchor="t"/>
          <a:lstStyle/>
          <a:p>
            <a:pPr indent="0" marL="0">
              <a:buNone/>
            </a:pPr>
            <a:r>
              <a:rPr lang="en-US" sz="1100" dirty="0">
                <a:solidFill>
                  <a:srgbClr val="4A6275"/>
                </a:solidFill>
              </a:rPr>
              <a:t>quality checked</a:t>
            </a:r>
            <a:endParaRPr lang="en-US" sz="1100" dirty="0"/>
          </a:p>
        </p:txBody>
      </p:sp>
      <p:sp>
        <p:nvSpPr>
          <p:cNvPr id="15" name="Text 13"/>
          <p:cNvSpPr txBox="1"/>
          <p:nvPr/>
        </p:nvSpPr>
        <p:spPr>
          <a:xfrm>
            <a:off x="4389120" y="1508760"/>
            <a:ext cx="274320" cy="457200"/>
          </a:xfrm>
          <a:prstGeom prst="rect">
            <a:avLst/>
          </a:prstGeom>
          <a:noFill/>
          <a:ln/>
        </p:spPr>
        <p:txBody>
          <a:bodyPr wrap="square" lIns="0" tIns="0" rIns="0" bIns="0" rtlCol="0" anchor="ctr"/>
          <a:lstStyle/>
          <a:p>
            <a:pPr algn="ctr" indent="0" marL="0">
              <a:buNone/>
            </a:pPr>
            <a:r>
              <a:rPr lang="en-US" sz="2400" b="1" dirty="0">
                <a:solidFill>
                  <a:srgbClr val="4A6275"/>
                </a:solidFill>
              </a:rPr>
              <a:t>›</a:t>
            </a:r>
            <a:endParaRPr lang="en-US" sz="2400" dirty="0"/>
          </a:p>
        </p:txBody>
      </p:sp>
      <p:sp>
        <p:nvSpPr>
          <p:cNvPr id="16" name="Step 3"/>
          <p:cNvSpPr/>
          <p:nvPr/>
        </p:nvSpPr>
        <p:spPr>
          <a:xfrm>
            <a:off x="4663440" y="1188720"/>
            <a:ext cx="1828800" cy="1188720"/>
          </a:xfrm>
          <a:prstGeom prst="roundRect">
            <a:avLst>
              <a:gd name="adj" fmla="val 7692"/>
            </a:avLst>
          </a:prstGeom>
          <a:solidFill>
            <a:srgbClr val="E6F4F1"/>
          </a:solidFill>
          <a:ln w="19050">
            <a:solidFill>
              <a:srgbClr val="1B8F7A"/>
            </a:solidFill>
            <a:prstDash val="solid"/>
          </a:ln>
        </p:spPr>
      </p:sp>
      <p:sp>
        <p:nvSpPr>
          <p:cNvPr id="17" name="Badge 3"/>
          <p:cNvSpPr/>
          <p:nvPr/>
        </p:nvSpPr>
        <p:spPr>
          <a:xfrm>
            <a:off x="4773168" y="1298448"/>
            <a:ext cx="292608" cy="292608"/>
          </a:xfrm>
          <a:prstGeom prst="ellipse">
            <a:avLst/>
          </a:prstGeom>
          <a:solidFill>
            <a:srgbClr val="1B8F7A"/>
          </a:solidFill>
          <a:ln w="12700">
            <a:solidFill>
              <a:srgbClr val="1B8F7A"/>
            </a:solidFill>
            <a:prstDash val="solid"/>
          </a:ln>
        </p:spPr>
      </p:sp>
      <p:sp>
        <p:nvSpPr>
          <p:cNvPr id="18" name="Text 16"/>
          <p:cNvSpPr txBox="1"/>
          <p:nvPr/>
        </p:nvSpPr>
        <p:spPr>
          <a:xfrm>
            <a:off x="4773168" y="1298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9" name="Text 17"/>
          <p:cNvSpPr txBox="1"/>
          <p:nvPr/>
        </p:nvSpPr>
        <p:spPr>
          <a:xfrm>
            <a:off x="4800600" y="164592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Chunks</a:t>
            </a:r>
            <a:endParaRPr lang="en-US" sz="1400" dirty="0"/>
          </a:p>
        </p:txBody>
      </p:sp>
      <p:sp>
        <p:nvSpPr>
          <p:cNvPr id="20" name="Text 18"/>
          <p:cNvSpPr txBox="1"/>
          <p:nvPr/>
        </p:nvSpPr>
        <p:spPr>
          <a:xfrm>
            <a:off x="4800600" y="1920240"/>
            <a:ext cx="1600200" cy="411480"/>
          </a:xfrm>
          <a:prstGeom prst="rect">
            <a:avLst/>
          </a:prstGeom>
          <a:noFill/>
          <a:ln/>
        </p:spPr>
        <p:txBody>
          <a:bodyPr wrap="square" lIns="0" tIns="0" rIns="0" bIns="0" rtlCol="0" anchor="t"/>
          <a:lstStyle/>
          <a:p>
            <a:pPr indent="0" marL="0">
              <a:buNone/>
            </a:pPr>
            <a:r>
              <a:rPr lang="en-US" sz="1100" dirty="0">
                <a:solidFill>
                  <a:srgbClr val="4A6275"/>
                </a:solidFill>
              </a:rPr>
              <a:t>3 sentences, no overlap</a:t>
            </a:r>
            <a:endParaRPr lang="en-US" sz="1100" dirty="0"/>
          </a:p>
        </p:txBody>
      </p:sp>
      <p:sp>
        <p:nvSpPr>
          <p:cNvPr id="21" name="Text 19"/>
          <p:cNvSpPr txBox="1"/>
          <p:nvPr/>
        </p:nvSpPr>
        <p:spPr>
          <a:xfrm>
            <a:off x="6492240" y="1508760"/>
            <a:ext cx="274320" cy="457200"/>
          </a:xfrm>
          <a:prstGeom prst="rect">
            <a:avLst/>
          </a:prstGeom>
          <a:noFill/>
          <a:ln/>
        </p:spPr>
        <p:txBody>
          <a:bodyPr wrap="square" lIns="0" tIns="0" rIns="0" bIns="0" rtlCol="0" anchor="ctr"/>
          <a:lstStyle/>
          <a:p>
            <a:pPr algn="ctr" indent="0" marL="0">
              <a:buNone/>
            </a:pPr>
            <a:r>
              <a:rPr lang="en-US" sz="2400" b="1" dirty="0">
                <a:solidFill>
                  <a:srgbClr val="4A6275"/>
                </a:solidFill>
              </a:rPr>
              <a:t>›</a:t>
            </a:r>
            <a:endParaRPr lang="en-US" sz="2400" dirty="0"/>
          </a:p>
        </p:txBody>
      </p:sp>
      <p:sp>
        <p:nvSpPr>
          <p:cNvPr id="22" name="Step 4"/>
          <p:cNvSpPr/>
          <p:nvPr/>
        </p:nvSpPr>
        <p:spPr>
          <a:xfrm>
            <a:off x="6766560" y="1188720"/>
            <a:ext cx="1828800" cy="1188720"/>
          </a:xfrm>
          <a:prstGeom prst="roundRect">
            <a:avLst>
              <a:gd name="adj" fmla="val 7692"/>
            </a:avLst>
          </a:prstGeom>
          <a:solidFill>
            <a:srgbClr val="E6F4F1"/>
          </a:solidFill>
          <a:ln w="19050">
            <a:solidFill>
              <a:srgbClr val="1B8F7A"/>
            </a:solidFill>
            <a:prstDash val="solid"/>
          </a:ln>
        </p:spPr>
      </p:sp>
      <p:sp>
        <p:nvSpPr>
          <p:cNvPr id="23" name="Badge 4"/>
          <p:cNvSpPr/>
          <p:nvPr/>
        </p:nvSpPr>
        <p:spPr>
          <a:xfrm>
            <a:off x="6876288" y="1298448"/>
            <a:ext cx="292608" cy="292608"/>
          </a:xfrm>
          <a:prstGeom prst="ellipse">
            <a:avLst/>
          </a:prstGeom>
          <a:solidFill>
            <a:srgbClr val="1B8F7A"/>
          </a:solidFill>
          <a:ln w="12700">
            <a:solidFill>
              <a:srgbClr val="1B8F7A"/>
            </a:solidFill>
            <a:prstDash val="solid"/>
          </a:ln>
        </p:spPr>
      </p:sp>
      <p:sp>
        <p:nvSpPr>
          <p:cNvPr id="24" name="Text 22"/>
          <p:cNvSpPr txBox="1"/>
          <p:nvPr/>
        </p:nvSpPr>
        <p:spPr>
          <a:xfrm>
            <a:off x="6876288" y="12984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5" name="Text 23"/>
          <p:cNvSpPr txBox="1"/>
          <p:nvPr/>
        </p:nvSpPr>
        <p:spPr>
          <a:xfrm>
            <a:off x="6903720" y="164592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Embeddings</a:t>
            </a:r>
            <a:endParaRPr lang="en-US" sz="1400" dirty="0"/>
          </a:p>
        </p:txBody>
      </p:sp>
      <p:sp>
        <p:nvSpPr>
          <p:cNvPr id="26" name="Text 24"/>
          <p:cNvSpPr txBox="1"/>
          <p:nvPr/>
        </p:nvSpPr>
        <p:spPr>
          <a:xfrm>
            <a:off x="6903720" y="1920240"/>
            <a:ext cx="1600200" cy="411480"/>
          </a:xfrm>
          <a:prstGeom prst="rect">
            <a:avLst/>
          </a:prstGeom>
          <a:noFill/>
          <a:ln/>
        </p:spPr>
        <p:txBody>
          <a:bodyPr wrap="square" lIns="0" tIns="0" rIns="0" bIns="0" rtlCol="0" anchor="t"/>
          <a:lstStyle/>
          <a:p>
            <a:pPr indent="0" marL="0">
              <a:buNone/>
            </a:pPr>
            <a:r>
              <a:rPr lang="en-US" sz="1100" dirty="0">
                <a:solidFill>
                  <a:srgbClr val="4A6275"/>
                </a:solidFill>
              </a:rPr>
              <a:t>local model, Qdrant</a:t>
            </a:r>
            <a:endParaRPr lang="en-US" sz="1100" dirty="0"/>
          </a:p>
        </p:txBody>
      </p:sp>
      <p:sp>
        <p:nvSpPr>
          <p:cNvPr id="27" name="Step 5"/>
          <p:cNvSpPr/>
          <p:nvPr/>
        </p:nvSpPr>
        <p:spPr>
          <a:xfrm>
            <a:off x="457200" y="2743200"/>
            <a:ext cx="1828800" cy="1188720"/>
          </a:xfrm>
          <a:prstGeom prst="roundRect">
            <a:avLst>
              <a:gd name="adj" fmla="val 7692"/>
            </a:avLst>
          </a:prstGeom>
          <a:solidFill>
            <a:srgbClr val="FFF3DD"/>
          </a:solidFill>
          <a:ln w="19050">
            <a:solidFill>
              <a:srgbClr val="E59A1F"/>
            </a:solidFill>
            <a:prstDash val="solid"/>
          </a:ln>
        </p:spPr>
      </p:sp>
      <p:sp>
        <p:nvSpPr>
          <p:cNvPr id="28" name="Badge 5"/>
          <p:cNvSpPr/>
          <p:nvPr/>
        </p:nvSpPr>
        <p:spPr>
          <a:xfrm>
            <a:off x="566928" y="2852928"/>
            <a:ext cx="292608" cy="292608"/>
          </a:xfrm>
          <a:prstGeom prst="ellipse">
            <a:avLst/>
          </a:prstGeom>
          <a:solidFill>
            <a:srgbClr val="E59A1F"/>
          </a:solidFill>
          <a:ln w="12700">
            <a:solidFill>
              <a:srgbClr val="E59A1F"/>
            </a:solidFill>
            <a:prstDash val="solid"/>
          </a:ln>
        </p:spPr>
      </p:sp>
      <p:sp>
        <p:nvSpPr>
          <p:cNvPr id="29" name="Text 27"/>
          <p:cNvSpPr txBox="1"/>
          <p:nvPr/>
        </p:nvSpPr>
        <p:spPr>
          <a:xfrm>
            <a:off x="566928" y="2852928"/>
            <a:ext cx="292608" cy="292608"/>
          </a:xfrm>
          <a:prstGeom prst="rect">
            <a:avLst/>
          </a:prstGeom>
          <a:noFill/>
          <a:ln/>
        </p:spPr>
        <p:txBody>
          <a:bodyPr wrap="square" lIns="0" tIns="0" rIns="0" bIns="0" rtlCol="0" anchor="ctr"/>
          <a:lstStyle/>
          <a:p>
            <a:pPr algn="ctr" indent="0" marL="0">
              <a:buNone/>
            </a:pPr>
            <a:r>
              <a:rPr lang="en-US" sz="1200" b="1" dirty="0">
                <a:solidFill>
                  <a:srgbClr val="0F2A3D"/>
                </a:solidFill>
              </a:rPr>
              <a:t>5</a:t>
            </a:r>
            <a:endParaRPr lang="en-US" sz="1200" dirty="0"/>
          </a:p>
        </p:txBody>
      </p:sp>
      <p:sp>
        <p:nvSpPr>
          <p:cNvPr id="30" name="Text 28"/>
          <p:cNvSpPr txBox="1"/>
          <p:nvPr/>
        </p:nvSpPr>
        <p:spPr>
          <a:xfrm>
            <a:off x="594360" y="320040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LLM chunk score</a:t>
            </a:r>
            <a:endParaRPr lang="en-US" sz="1400" dirty="0"/>
          </a:p>
        </p:txBody>
      </p:sp>
      <p:sp>
        <p:nvSpPr>
          <p:cNvPr id="31" name="Text 29"/>
          <p:cNvSpPr txBox="1"/>
          <p:nvPr/>
        </p:nvSpPr>
        <p:spPr>
          <a:xfrm>
            <a:off x="594360" y="3474720"/>
            <a:ext cx="1600200" cy="411480"/>
          </a:xfrm>
          <a:prstGeom prst="rect">
            <a:avLst/>
          </a:prstGeom>
          <a:noFill/>
          <a:ln/>
        </p:spPr>
        <p:txBody>
          <a:bodyPr wrap="square" lIns="0" tIns="0" rIns="0" bIns="0" rtlCol="0" anchor="t"/>
          <a:lstStyle/>
          <a:p>
            <a:pPr indent="0" marL="0">
              <a:buNone/>
            </a:pPr>
            <a:r>
              <a:rPr lang="en-US" sz="1100" dirty="0">
                <a:solidFill>
                  <a:srgbClr val="4A6275"/>
                </a:solidFill>
              </a:rPr>
              <a:t>polarity, importance, confidence</a:t>
            </a:r>
            <a:endParaRPr lang="en-US" sz="1100" dirty="0"/>
          </a:p>
        </p:txBody>
      </p:sp>
      <p:sp>
        <p:nvSpPr>
          <p:cNvPr id="32" name="Text 30"/>
          <p:cNvSpPr txBox="1"/>
          <p:nvPr/>
        </p:nvSpPr>
        <p:spPr>
          <a:xfrm>
            <a:off x="2286000" y="3063240"/>
            <a:ext cx="274320" cy="457200"/>
          </a:xfrm>
          <a:prstGeom prst="rect">
            <a:avLst/>
          </a:prstGeom>
          <a:noFill/>
          <a:ln/>
        </p:spPr>
        <p:txBody>
          <a:bodyPr wrap="square" lIns="0" tIns="0" rIns="0" bIns="0" rtlCol="0" anchor="ctr"/>
          <a:lstStyle/>
          <a:p>
            <a:pPr algn="ctr" indent="0" marL="0">
              <a:buNone/>
            </a:pPr>
            <a:r>
              <a:rPr lang="en-US" sz="2400" b="1" dirty="0">
                <a:solidFill>
                  <a:srgbClr val="4A6275"/>
                </a:solidFill>
              </a:rPr>
              <a:t>›</a:t>
            </a:r>
            <a:endParaRPr lang="en-US" sz="2400" dirty="0"/>
          </a:p>
        </p:txBody>
      </p:sp>
      <p:sp>
        <p:nvSpPr>
          <p:cNvPr id="33" name="Step 6"/>
          <p:cNvSpPr/>
          <p:nvPr/>
        </p:nvSpPr>
        <p:spPr>
          <a:xfrm>
            <a:off x="2560320" y="2743200"/>
            <a:ext cx="1828800" cy="1188720"/>
          </a:xfrm>
          <a:prstGeom prst="roundRect">
            <a:avLst>
              <a:gd name="adj" fmla="val 7692"/>
            </a:avLst>
          </a:prstGeom>
          <a:solidFill>
            <a:srgbClr val="E6F4F1"/>
          </a:solidFill>
          <a:ln w="19050">
            <a:solidFill>
              <a:srgbClr val="1B8F7A"/>
            </a:solidFill>
            <a:prstDash val="solid"/>
          </a:ln>
        </p:spPr>
      </p:sp>
      <p:sp>
        <p:nvSpPr>
          <p:cNvPr id="34" name="Badge 6"/>
          <p:cNvSpPr/>
          <p:nvPr/>
        </p:nvSpPr>
        <p:spPr>
          <a:xfrm>
            <a:off x="2670048" y="2852928"/>
            <a:ext cx="292608" cy="292608"/>
          </a:xfrm>
          <a:prstGeom prst="ellipse">
            <a:avLst/>
          </a:prstGeom>
          <a:solidFill>
            <a:srgbClr val="1B8F7A"/>
          </a:solidFill>
          <a:ln w="12700">
            <a:solidFill>
              <a:srgbClr val="1B8F7A"/>
            </a:solidFill>
            <a:prstDash val="solid"/>
          </a:ln>
        </p:spPr>
      </p:sp>
      <p:sp>
        <p:nvSpPr>
          <p:cNvPr id="35" name="Text 33"/>
          <p:cNvSpPr txBox="1"/>
          <p:nvPr/>
        </p:nvSpPr>
        <p:spPr>
          <a:xfrm>
            <a:off x="2670048" y="28529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6" name="Text 34"/>
          <p:cNvSpPr txBox="1"/>
          <p:nvPr/>
        </p:nvSpPr>
        <p:spPr>
          <a:xfrm>
            <a:off x="2697480" y="320040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Aggregation</a:t>
            </a:r>
            <a:endParaRPr lang="en-US" sz="1400" dirty="0"/>
          </a:p>
        </p:txBody>
      </p:sp>
      <p:sp>
        <p:nvSpPr>
          <p:cNvPr id="37" name="Text 35"/>
          <p:cNvSpPr txBox="1"/>
          <p:nvPr/>
        </p:nvSpPr>
        <p:spPr>
          <a:xfrm>
            <a:off x="2697480" y="3474720"/>
            <a:ext cx="1600200" cy="411480"/>
          </a:xfrm>
          <a:prstGeom prst="rect">
            <a:avLst/>
          </a:prstGeom>
          <a:noFill/>
          <a:ln/>
        </p:spPr>
        <p:txBody>
          <a:bodyPr wrap="square" lIns="0" tIns="0" rIns="0" bIns="0" rtlCol="0" anchor="t"/>
          <a:lstStyle/>
          <a:p>
            <a:pPr indent="0" marL="0">
              <a:buNone/>
            </a:pPr>
            <a:r>
              <a:rPr lang="en-US" sz="1100" dirty="0">
                <a:solidFill>
                  <a:srgbClr val="4A6275"/>
                </a:solidFill>
              </a:rPr>
              <a:t>importance × confidence × recency</a:t>
            </a:r>
            <a:endParaRPr lang="en-US" sz="1100" dirty="0"/>
          </a:p>
        </p:txBody>
      </p:sp>
      <p:sp>
        <p:nvSpPr>
          <p:cNvPr id="38" name="Text 36"/>
          <p:cNvSpPr txBox="1"/>
          <p:nvPr/>
        </p:nvSpPr>
        <p:spPr>
          <a:xfrm>
            <a:off x="4389120" y="3063240"/>
            <a:ext cx="274320" cy="457200"/>
          </a:xfrm>
          <a:prstGeom prst="rect">
            <a:avLst/>
          </a:prstGeom>
          <a:noFill/>
          <a:ln/>
        </p:spPr>
        <p:txBody>
          <a:bodyPr wrap="square" lIns="0" tIns="0" rIns="0" bIns="0" rtlCol="0" anchor="ctr"/>
          <a:lstStyle/>
          <a:p>
            <a:pPr algn="ctr" indent="0" marL="0">
              <a:buNone/>
            </a:pPr>
            <a:r>
              <a:rPr lang="en-US" sz="2400" b="1" dirty="0">
                <a:solidFill>
                  <a:srgbClr val="4A6275"/>
                </a:solidFill>
              </a:rPr>
              <a:t>›</a:t>
            </a:r>
            <a:endParaRPr lang="en-US" sz="2400" dirty="0"/>
          </a:p>
        </p:txBody>
      </p:sp>
      <p:sp>
        <p:nvSpPr>
          <p:cNvPr id="39" name="Step 7"/>
          <p:cNvSpPr/>
          <p:nvPr/>
        </p:nvSpPr>
        <p:spPr>
          <a:xfrm>
            <a:off x="4663440" y="2743200"/>
            <a:ext cx="1828800" cy="1188720"/>
          </a:xfrm>
          <a:prstGeom prst="roundRect">
            <a:avLst>
              <a:gd name="adj" fmla="val 7692"/>
            </a:avLst>
          </a:prstGeom>
          <a:solidFill>
            <a:srgbClr val="E6F4F1"/>
          </a:solidFill>
          <a:ln w="19050">
            <a:solidFill>
              <a:srgbClr val="1B8F7A"/>
            </a:solidFill>
            <a:prstDash val="solid"/>
          </a:ln>
        </p:spPr>
      </p:sp>
      <p:sp>
        <p:nvSpPr>
          <p:cNvPr id="40" name="Badge 7"/>
          <p:cNvSpPr/>
          <p:nvPr/>
        </p:nvSpPr>
        <p:spPr>
          <a:xfrm>
            <a:off x="4773168" y="2852928"/>
            <a:ext cx="292608" cy="292608"/>
          </a:xfrm>
          <a:prstGeom prst="ellipse">
            <a:avLst/>
          </a:prstGeom>
          <a:solidFill>
            <a:srgbClr val="1B8F7A"/>
          </a:solidFill>
          <a:ln w="12700">
            <a:solidFill>
              <a:srgbClr val="1B8F7A"/>
            </a:solidFill>
            <a:prstDash val="solid"/>
          </a:ln>
        </p:spPr>
      </p:sp>
      <p:sp>
        <p:nvSpPr>
          <p:cNvPr id="41" name="Text 39"/>
          <p:cNvSpPr txBox="1"/>
          <p:nvPr/>
        </p:nvSpPr>
        <p:spPr>
          <a:xfrm>
            <a:off x="4773168" y="28529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42" name="Text 40"/>
          <p:cNvSpPr txBox="1"/>
          <p:nvPr/>
        </p:nvSpPr>
        <p:spPr>
          <a:xfrm>
            <a:off x="4800600" y="320040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Snapshots</a:t>
            </a:r>
            <a:endParaRPr lang="en-US" sz="1400" dirty="0"/>
          </a:p>
        </p:txBody>
      </p:sp>
      <p:sp>
        <p:nvSpPr>
          <p:cNvPr id="43" name="Text 41"/>
          <p:cNvSpPr txBox="1"/>
          <p:nvPr/>
        </p:nvSpPr>
        <p:spPr>
          <a:xfrm>
            <a:off x="4800600" y="3474720"/>
            <a:ext cx="1600200" cy="411480"/>
          </a:xfrm>
          <a:prstGeom prst="rect">
            <a:avLst/>
          </a:prstGeom>
          <a:noFill/>
          <a:ln/>
        </p:spPr>
        <p:txBody>
          <a:bodyPr wrap="square" lIns="0" tIns="0" rIns="0" bIns="0" rtlCol="0" anchor="t"/>
          <a:lstStyle/>
          <a:p>
            <a:pPr indent="0" marL="0">
              <a:buNone/>
            </a:pPr>
            <a:r>
              <a:rPr lang="en-US" sz="1100" dirty="0">
                <a:solidFill>
                  <a:srgbClr val="4A6275"/>
                </a:solidFill>
              </a:rPr>
              <a:t>30 / 90 / 365 days</a:t>
            </a:r>
            <a:endParaRPr lang="en-US" sz="1100" dirty="0"/>
          </a:p>
        </p:txBody>
      </p:sp>
      <p:sp>
        <p:nvSpPr>
          <p:cNvPr id="44" name="Text 42"/>
          <p:cNvSpPr txBox="1"/>
          <p:nvPr/>
        </p:nvSpPr>
        <p:spPr>
          <a:xfrm>
            <a:off x="6492240" y="3063240"/>
            <a:ext cx="274320" cy="457200"/>
          </a:xfrm>
          <a:prstGeom prst="rect">
            <a:avLst/>
          </a:prstGeom>
          <a:noFill/>
          <a:ln/>
        </p:spPr>
        <p:txBody>
          <a:bodyPr wrap="square" lIns="0" tIns="0" rIns="0" bIns="0" rtlCol="0" anchor="ctr"/>
          <a:lstStyle/>
          <a:p>
            <a:pPr algn="ctr" indent="0" marL="0">
              <a:buNone/>
            </a:pPr>
            <a:r>
              <a:rPr lang="en-US" sz="2400" b="1" dirty="0">
                <a:solidFill>
                  <a:srgbClr val="4A6275"/>
                </a:solidFill>
              </a:rPr>
              <a:t>›</a:t>
            </a:r>
            <a:endParaRPr lang="en-US" sz="2400" dirty="0"/>
          </a:p>
        </p:txBody>
      </p:sp>
      <p:sp>
        <p:nvSpPr>
          <p:cNvPr id="45" name="Step 8"/>
          <p:cNvSpPr/>
          <p:nvPr/>
        </p:nvSpPr>
        <p:spPr>
          <a:xfrm>
            <a:off x="6766560" y="2743200"/>
            <a:ext cx="1828800" cy="1188720"/>
          </a:xfrm>
          <a:prstGeom prst="roundRect">
            <a:avLst>
              <a:gd name="adj" fmla="val 7692"/>
            </a:avLst>
          </a:prstGeom>
          <a:solidFill>
            <a:srgbClr val="E6F4F1"/>
          </a:solidFill>
          <a:ln w="19050">
            <a:solidFill>
              <a:srgbClr val="1B8F7A"/>
            </a:solidFill>
            <a:prstDash val="solid"/>
          </a:ln>
        </p:spPr>
      </p:sp>
      <p:sp>
        <p:nvSpPr>
          <p:cNvPr id="46" name="Badge 8"/>
          <p:cNvSpPr/>
          <p:nvPr/>
        </p:nvSpPr>
        <p:spPr>
          <a:xfrm>
            <a:off x="6876288" y="2852928"/>
            <a:ext cx="292608" cy="292608"/>
          </a:xfrm>
          <a:prstGeom prst="ellipse">
            <a:avLst/>
          </a:prstGeom>
          <a:solidFill>
            <a:srgbClr val="1B8F7A"/>
          </a:solidFill>
          <a:ln w="12700">
            <a:solidFill>
              <a:srgbClr val="1B8F7A"/>
            </a:solidFill>
            <a:prstDash val="solid"/>
          </a:ln>
        </p:spPr>
      </p:sp>
      <p:sp>
        <p:nvSpPr>
          <p:cNvPr id="47" name="Text 45"/>
          <p:cNvSpPr txBox="1"/>
          <p:nvPr/>
        </p:nvSpPr>
        <p:spPr>
          <a:xfrm>
            <a:off x="6876288" y="28529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48" name="Text 46"/>
          <p:cNvSpPr txBox="1"/>
          <p:nvPr/>
        </p:nvSpPr>
        <p:spPr>
          <a:xfrm>
            <a:off x="6903720" y="3200400"/>
            <a:ext cx="1600200" cy="274320"/>
          </a:xfrm>
          <a:prstGeom prst="rect">
            <a:avLst/>
          </a:prstGeom>
          <a:noFill/>
          <a:ln/>
        </p:spPr>
        <p:txBody>
          <a:bodyPr wrap="square" lIns="0" tIns="0" rIns="0" bIns="0" rtlCol="0" anchor="ctr"/>
          <a:lstStyle/>
          <a:p>
            <a:pPr indent="0" marL="0">
              <a:buNone/>
            </a:pPr>
            <a:r>
              <a:rPr lang="en-US" sz="1400" b="1" dirty="0">
                <a:solidFill>
                  <a:srgbClr val="0F2A3D"/>
                </a:solidFill>
              </a:rPr>
              <a:t>Thesis rules</a:t>
            </a:r>
            <a:endParaRPr lang="en-US" sz="1400" dirty="0"/>
          </a:p>
        </p:txBody>
      </p:sp>
      <p:sp>
        <p:nvSpPr>
          <p:cNvPr id="49" name="Text 47"/>
          <p:cNvSpPr txBox="1"/>
          <p:nvPr/>
        </p:nvSpPr>
        <p:spPr>
          <a:xfrm>
            <a:off x="6903720" y="3474720"/>
            <a:ext cx="1600200" cy="411480"/>
          </a:xfrm>
          <a:prstGeom prst="rect">
            <a:avLst/>
          </a:prstGeom>
          <a:noFill/>
          <a:ln/>
        </p:spPr>
        <p:txBody>
          <a:bodyPr wrap="square" lIns="0" tIns="0" rIns="0" bIns="0" rtlCol="0" anchor="t"/>
          <a:lstStyle/>
          <a:p>
            <a:pPr indent="0" marL="0">
              <a:buNone/>
            </a:pPr>
            <a:r>
              <a:rPr lang="en-US" sz="1100" dirty="0">
                <a:solidFill>
                  <a:srgbClr val="4A6275"/>
                </a:solidFill>
              </a:rPr>
              <a:t>no LLM call, then prediction</a:t>
            </a:r>
            <a:endParaRPr lang="en-US" sz="1100" dirty="0"/>
          </a:p>
        </p:txBody>
      </p:sp>
      <p:sp>
        <p:nvSpPr>
          <p:cNvPr id="50" name="Text 48"/>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400" dirty="0">
                <a:solidFill>
                  <a:srgbClr val="4A6275"/>
                </a:solidFill>
              </a:rPr>
              <a:t>Steps 1 to 7 are investor-independent; only the thesis rules (8) use the investor</a:t>
            </a:r>
            <a:endParaRPr lang="en-US" sz="1400" dirty="0"/>
          </a:p>
        </p:txBody>
      </p:sp>
      <p:sp>
        <p:nvSpPr>
          <p:cNvPr id="51" name="Shape 49"/>
          <p:cNvSpPr/>
          <p:nvPr/>
        </p:nvSpPr>
        <p:spPr>
          <a:xfrm>
            <a:off x="457200" y="4572000"/>
            <a:ext cx="201168" cy="146304"/>
          </a:xfrm>
          <a:prstGeom prst="rect">
            <a:avLst/>
          </a:prstGeom>
          <a:solidFill>
            <a:srgbClr val="E6F4F1"/>
          </a:solidFill>
          <a:ln w="15875">
            <a:solidFill>
              <a:srgbClr val="1B8F7A"/>
            </a:solidFill>
            <a:prstDash val="solid"/>
          </a:ln>
        </p:spPr>
      </p:sp>
      <p:sp>
        <p:nvSpPr>
          <p:cNvPr id="52" name="Text 50"/>
          <p:cNvSpPr txBox="1"/>
          <p:nvPr/>
        </p:nvSpPr>
        <p:spPr>
          <a:xfrm>
            <a:off x="731520" y="4526280"/>
            <a:ext cx="1463040" cy="237744"/>
          </a:xfrm>
          <a:prstGeom prst="rect">
            <a:avLst/>
          </a:prstGeom>
          <a:noFill/>
          <a:ln/>
        </p:spPr>
        <p:txBody>
          <a:bodyPr wrap="square" lIns="0" tIns="0" rIns="0" bIns="0" rtlCol="0" anchor="ctr"/>
          <a:lstStyle/>
          <a:p>
            <a:pPr indent="0" marL="0">
              <a:buNone/>
            </a:pPr>
            <a:r>
              <a:rPr lang="en-US" sz="1100" dirty="0">
                <a:solidFill>
                  <a:srgbClr val="4A6275"/>
                </a:solidFill>
              </a:rPr>
              <a:t>Working</a:t>
            </a:r>
            <a:endParaRPr lang="en-US" sz="1100" dirty="0"/>
          </a:p>
        </p:txBody>
      </p:sp>
      <p:sp>
        <p:nvSpPr>
          <p:cNvPr id="53" name="Shape 51"/>
          <p:cNvSpPr/>
          <p:nvPr/>
        </p:nvSpPr>
        <p:spPr>
          <a:xfrm>
            <a:off x="1595628" y="4572000"/>
            <a:ext cx="201168" cy="146304"/>
          </a:xfrm>
          <a:prstGeom prst="rect">
            <a:avLst/>
          </a:prstGeom>
          <a:solidFill>
            <a:srgbClr val="FFF3DD"/>
          </a:solidFill>
          <a:ln w="15875">
            <a:solidFill>
              <a:srgbClr val="E59A1F"/>
            </a:solidFill>
            <a:prstDash val="solid"/>
          </a:ln>
        </p:spPr>
      </p:sp>
      <p:sp>
        <p:nvSpPr>
          <p:cNvPr id="54" name="Text 52"/>
          <p:cNvSpPr txBox="1"/>
          <p:nvPr/>
        </p:nvSpPr>
        <p:spPr>
          <a:xfrm>
            <a:off x="1869948" y="4526280"/>
            <a:ext cx="1463040" cy="237744"/>
          </a:xfrm>
          <a:prstGeom prst="rect">
            <a:avLst/>
          </a:prstGeom>
          <a:noFill/>
          <a:ln/>
        </p:spPr>
        <p:txBody>
          <a:bodyPr wrap="square" lIns="0" tIns="0" rIns="0" bIns="0" rtlCol="0" anchor="ctr"/>
          <a:lstStyle/>
          <a:p>
            <a:pPr indent="0" marL="0">
              <a:buNone/>
            </a:pPr>
            <a:r>
              <a:rPr lang="en-US" sz="1100" dirty="0">
                <a:solidFill>
                  <a:srgbClr val="4A6275"/>
                </a:solidFill>
              </a:rPr>
              <a:t>Partial / in review</a:t>
            </a:r>
            <a:endParaRPr lang="en-US" sz="1100" dirty="0"/>
          </a:p>
        </p:txBody>
      </p:sp>
      <p:sp>
        <p:nvSpPr>
          <p:cNvPr id="55" name="Shape 53"/>
          <p:cNvSpPr/>
          <p:nvPr/>
        </p:nvSpPr>
        <p:spPr>
          <a:xfrm>
            <a:off x="3666744" y="4572000"/>
            <a:ext cx="201168" cy="146304"/>
          </a:xfrm>
          <a:prstGeom prst="rect">
            <a:avLst/>
          </a:prstGeom>
          <a:solidFill>
            <a:srgbClr val="F1F3F5"/>
          </a:solidFill>
          <a:ln w="15875">
            <a:solidFill>
              <a:srgbClr val="8795A1"/>
            </a:solidFill>
            <a:prstDash val="dash"/>
          </a:ln>
        </p:spPr>
      </p:sp>
      <p:sp>
        <p:nvSpPr>
          <p:cNvPr id="56" name="Text 54"/>
          <p:cNvSpPr txBox="1"/>
          <p:nvPr/>
        </p:nvSpPr>
        <p:spPr>
          <a:xfrm>
            <a:off x="3941064" y="4526280"/>
            <a:ext cx="1463040" cy="237744"/>
          </a:xfrm>
          <a:prstGeom prst="rect">
            <a:avLst/>
          </a:prstGeom>
          <a:noFill/>
          <a:ln/>
        </p:spPr>
        <p:txBody>
          <a:bodyPr wrap="square" lIns="0" tIns="0" rIns="0" bIns="0" rtlCol="0" anchor="ctr"/>
          <a:lstStyle/>
          <a:p>
            <a:pPr indent="0" marL="0">
              <a:buNone/>
            </a:pPr>
            <a:r>
              <a:rPr lang="en-US" sz="1100" dirty="0">
                <a:solidFill>
                  <a:srgbClr val="4A6275"/>
                </a:solidFill>
              </a:rPr>
              <a:t>Not done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Personalization: rules, not another LLM call</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7</a:t>
            </a:r>
            <a:endParaRPr lang="en-US" sz="1000" dirty="0"/>
          </a:p>
        </p:txBody>
      </p:sp>
      <p:sp>
        <p:nvSpPr>
          <p:cNvPr id="4" name="Card Horizon"/>
          <p:cNvSpPr/>
          <p:nvPr/>
        </p:nvSpPr>
        <p:spPr>
          <a:xfrm>
            <a:off x="457200" y="1234440"/>
            <a:ext cx="2651760" cy="2697480"/>
          </a:xfrm>
          <a:prstGeom prst="roundRect">
            <a:avLst>
              <a:gd name="adj" fmla="val 3448"/>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5" name="Text 3"/>
          <p:cNvSpPr txBox="1"/>
          <p:nvPr/>
        </p:nvSpPr>
        <p:spPr>
          <a:xfrm>
            <a:off x="640080" y="1371600"/>
            <a:ext cx="2286000" cy="365760"/>
          </a:xfrm>
          <a:prstGeom prst="rect">
            <a:avLst/>
          </a:prstGeom>
          <a:noFill/>
          <a:ln/>
        </p:spPr>
        <p:txBody>
          <a:bodyPr wrap="square" lIns="0" tIns="0" rIns="0" bIns="0" rtlCol="0" anchor="ctr"/>
          <a:lstStyle/>
          <a:p>
            <a:pPr indent="0" marL="0">
              <a:buNone/>
            </a:pPr>
            <a:r>
              <a:rPr lang="en-US" sz="1800" b="1" dirty="0">
                <a:solidFill>
                  <a:srgbClr val="1B8F7A"/>
                </a:solidFill>
                <a:latin typeface="Cambria" pitchFamily="34" charset="0"/>
                <a:ea typeface="Cambria" pitchFamily="34" charset="-122"/>
                <a:cs typeface="Cambria" pitchFamily="34" charset="-120"/>
              </a:rPr>
              <a:t>Horizon</a:t>
            </a:r>
            <a:endParaRPr lang="en-US" sz="1800" dirty="0"/>
          </a:p>
        </p:txBody>
      </p:sp>
      <p:sp>
        <p:nvSpPr>
          <p:cNvPr id="6" name="Text 4"/>
          <p:cNvSpPr txBox="1"/>
          <p:nvPr/>
        </p:nvSpPr>
        <p:spPr>
          <a:xfrm>
            <a:off x="640080" y="1719072"/>
            <a:ext cx="2286000" cy="274320"/>
          </a:xfrm>
          <a:prstGeom prst="rect">
            <a:avLst/>
          </a:prstGeom>
          <a:noFill/>
          <a:ln/>
        </p:spPr>
        <p:txBody>
          <a:bodyPr wrap="square" lIns="0" tIns="0" rIns="0" bIns="0" rtlCol="0" anchor="ctr"/>
          <a:lstStyle/>
          <a:p>
            <a:pPr indent="0" marL="0">
              <a:buNone/>
            </a:pPr>
            <a:r>
              <a:rPr lang="en-US" sz="1200" dirty="0">
                <a:solidFill>
                  <a:srgbClr val="4A6275"/>
                </a:solidFill>
              </a:rPr>
              <a:t>picks the windows</a:t>
            </a:r>
            <a:endParaRPr lang="en-US" sz="1200" dirty="0"/>
          </a:p>
        </p:txBody>
      </p:sp>
      <p:sp>
        <p:nvSpPr>
          <p:cNvPr id="7" name="Text 5"/>
          <p:cNvSpPr txBox="1"/>
          <p:nvPr/>
        </p:nvSpPr>
        <p:spPr>
          <a:xfrm>
            <a:off x="640080" y="2103120"/>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short term</a:t>
            </a:r>
            <a:endParaRPr lang="en-US" sz="1400" dirty="0"/>
          </a:p>
        </p:txBody>
      </p:sp>
      <p:sp>
        <p:nvSpPr>
          <p:cNvPr id="8" name="Text 6"/>
          <p:cNvSpPr txBox="1"/>
          <p:nvPr/>
        </p:nvSpPr>
        <p:spPr>
          <a:xfrm>
            <a:off x="640080" y="2350008"/>
            <a:ext cx="2286000" cy="256032"/>
          </a:xfrm>
          <a:prstGeom prst="rect">
            <a:avLst/>
          </a:prstGeom>
          <a:noFill/>
          <a:ln/>
        </p:spPr>
        <p:txBody>
          <a:bodyPr wrap="square" lIns="0" tIns="0" rIns="0" bIns="0" rtlCol="0" anchor="ctr"/>
          <a:lstStyle/>
          <a:p>
            <a:pPr indent="0" marL="0">
              <a:buNone/>
            </a:pPr>
            <a:r>
              <a:rPr lang="en-US" sz="1400" dirty="0">
                <a:solidFill>
                  <a:srgbClr val="4A6275"/>
                </a:solidFill>
              </a:rPr>
              <a:t>30d + 90d</a:t>
            </a:r>
            <a:endParaRPr lang="en-US" sz="1400" dirty="0"/>
          </a:p>
        </p:txBody>
      </p:sp>
      <p:sp>
        <p:nvSpPr>
          <p:cNvPr id="9" name="Text 7"/>
          <p:cNvSpPr txBox="1"/>
          <p:nvPr/>
        </p:nvSpPr>
        <p:spPr>
          <a:xfrm>
            <a:off x="640080" y="2633472"/>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long term</a:t>
            </a:r>
            <a:endParaRPr lang="en-US" sz="1400" dirty="0"/>
          </a:p>
        </p:txBody>
      </p:sp>
      <p:sp>
        <p:nvSpPr>
          <p:cNvPr id="10" name="Text 8"/>
          <p:cNvSpPr txBox="1"/>
          <p:nvPr/>
        </p:nvSpPr>
        <p:spPr>
          <a:xfrm>
            <a:off x="640080" y="2880360"/>
            <a:ext cx="2286000" cy="256032"/>
          </a:xfrm>
          <a:prstGeom prst="rect">
            <a:avLst/>
          </a:prstGeom>
          <a:noFill/>
          <a:ln/>
        </p:spPr>
        <p:txBody>
          <a:bodyPr wrap="square" lIns="0" tIns="0" rIns="0" bIns="0" rtlCol="0" anchor="ctr"/>
          <a:lstStyle/>
          <a:p>
            <a:pPr indent="0" marL="0">
              <a:buNone/>
            </a:pPr>
            <a:r>
              <a:rPr lang="en-US" sz="1400" dirty="0">
                <a:solidFill>
                  <a:srgbClr val="4A6275"/>
                </a:solidFill>
              </a:rPr>
              <a:t>90d + 365d</a:t>
            </a:r>
            <a:endParaRPr lang="en-US" sz="1400" dirty="0"/>
          </a:p>
        </p:txBody>
      </p:sp>
      <p:sp>
        <p:nvSpPr>
          <p:cNvPr id="11" name="Card Style"/>
          <p:cNvSpPr/>
          <p:nvPr/>
        </p:nvSpPr>
        <p:spPr>
          <a:xfrm>
            <a:off x="3291840" y="1234440"/>
            <a:ext cx="2651760" cy="2697480"/>
          </a:xfrm>
          <a:prstGeom prst="roundRect">
            <a:avLst>
              <a:gd name="adj" fmla="val 3448"/>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12" name="Text 10"/>
          <p:cNvSpPr txBox="1"/>
          <p:nvPr/>
        </p:nvSpPr>
        <p:spPr>
          <a:xfrm>
            <a:off x="3474720" y="1371600"/>
            <a:ext cx="2286000" cy="365760"/>
          </a:xfrm>
          <a:prstGeom prst="rect">
            <a:avLst/>
          </a:prstGeom>
          <a:noFill/>
          <a:ln/>
        </p:spPr>
        <p:txBody>
          <a:bodyPr wrap="square" lIns="0" tIns="0" rIns="0" bIns="0" rtlCol="0" anchor="ctr"/>
          <a:lstStyle/>
          <a:p>
            <a:pPr indent="0" marL="0">
              <a:buNone/>
            </a:pPr>
            <a:r>
              <a:rPr lang="en-US" sz="1800" b="1" dirty="0">
                <a:solidFill>
                  <a:srgbClr val="1B8F7A"/>
                </a:solidFill>
                <a:latin typeface="Cambria" pitchFamily="34" charset="0"/>
                <a:ea typeface="Cambria" pitchFamily="34" charset="-122"/>
                <a:cs typeface="Cambria" pitchFamily="34" charset="-120"/>
              </a:rPr>
              <a:t>Style</a:t>
            </a:r>
            <a:endParaRPr lang="en-US" sz="1800" dirty="0"/>
          </a:p>
        </p:txBody>
      </p:sp>
      <p:sp>
        <p:nvSpPr>
          <p:cNvPr id="13" name="Text 11"/>
          <p:cNvSpPr txBox="1"/>
          <p:nvPr/>
        </p:nvSpPr>
        <p:spPr>
          <a:xfrm>
            <a:off x="3474720" y="1719072"/>
            <a:ext cx="2286000" cy="274320"/>
          </a:xfrm>
          <a:prstGeom prst="rect">
            <a:avLst/>
          </a:prstGeom>
          <a:noFill/>
          <a:ln/>
        </p:spPr>
        <p:txBody>
          <a:bodyPr wrap="square" lIns="0" tIns="0" rIns="0" bIns="0" rtlCol="0" anchor="ctr"/>
          <a:lstStyle/>
          <a:p>
            <a:pPr indent="0" marL="0">
              <a:buNone/>
            </a:pPr>
            <a:r>
              <a:rPr lang="en-US" sz="1200" dirty="0">
                <a:solidFill>
                  <a:srgbClr val="4A6275"/>
                </a:solidFill>
              </a:rPr>
              <a:t>sets the weights</a:t>
            </a:r>
            <a:endParaRPr lang="en-US" sz="1200" dirty="0"/>
          </a:p>
        </p:txBody>
      </p:sp>
      <p:sp>
        <p:nvSpPr>
          <p:cNvPr id="14" name="Text 12"/>
          <p:cNvSpPr txBox="1"/>
          <p:nvPr/>
        </p:nvSpPr>
        <p:spPr>
          <a:xfrm>
            <a:off x="3474720" y="2103120"/>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active</a:t>
            </a:r>
            <a:endParaRPr lang="en-US" sz="1400" dirty="0"/>
          </a:p>
        </p:txBody>
      </p:sp>
      <p:sp>
        <p:nvSpPr>
          <p:cNvPr id="15" name="Text 13"/>
          <p:cNvSpPr txBox="1"/>
          <p:nvPr/>
        </p:nvSpPr>
        <p:spPr>
          <a:xfrm>
            <a:off x="3474720" y="2350008"/>
            <a:ext cx="2286000" cy="256032"/>
          </a:xfrm>
          <a:prstGeom prst="rect">
            <a:avLst/>
          </a:prstGeom>
          <a:noFill/>
          <a:ln/>
        </p:spPr>
        <p:txBody>
          <a:bodyPr wrap="square" lIns="0" tIns="0" rIns="0" bIns="0" rtlCol="0" anchor="ctr"/>
          <a:lstStyle/>
          <a:p>
            <a:pPr indent="0" marL="0">
              <a:buNone/>
            </a:pPr>
            <a:r>
              <a:rPr lang="en-US" sz="1400" dirty="0">
                <a:solidFill>
                  <a:srgbClr val="4A6275"/>
                </a:solidFill>
              </a:rPr>
              <a:t>0.7 short / 0.3 long</a:t>
            </a:r>
            <a:endParaRPr lang="en-US" sz="1400" dirty="0"/>
          </a:p>
        </p:txBody>
      </p:sp>
      <p:sp>
        <p:nvSpPr>
          <p:cNvPr id="16" name="Text 14"/>
          <p:cNvSpPr txBox="1"/>
          <p:nvPr/>
        </p:nvSpPr>
        <p:spPr>
          <a:xfrm>
            <a:off x="3474720" y="2633472"/>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passive</a:t>
            </a:r>
            <a:endParaRPr lang="en-US" sz="1400" dirty="0"/>
          </a:p>
        </p:txBody>
      </p:sp>
      <p:sp>
        <p:nvSpPr>
          <p:cNvPr id="17" name="Text 15"/>
          <p:cNvSpPr txBox="1"/>
          <p:nvPr/>
        </p:nvSpPr>
        <p:spPr>
          <a:xfrm>
            <a:off x="3474720" y="2880360"/>
            <a:ext cx="2286000" cy="256032"/>
          </a:xfrm>
          <a:prstGeom prst="rect">
            <a:avLst/>
          </a:prstGeom>
          <a:noFill/>
          <a:ln/>
        </p:spPr>
        <p:txBody>
          <a:bodyPr wrap="square" lIns="0" tIns="0" rIns="0" bIns="0" rtlCol="0" anchor="ctr"/>
          <a:lstStyle/>
          <a:p>
            <a:pPr indent="0" marL="0">
              <a:buNone/>
            </a:pPr>
            <a:r>
              <a:rPr lang="en-US" sz="1400" dirty="0">
                <a:solidFill>
                  <a:srgbClr val="4A6275"/>
                </a:solidFill>
              </a:rPr>
              <a:t>0.3 short / 0.7 long</a:t>
            </a:r>
            <a:endParaRPr lang="en-US" sz="1400" dirty="0"/>
          </a:p>
        </p:txBody>
      </p:sp>
      <p:sp>
        <p:nvSpPr>
          <p:cNvPr id="18" name="Card Risk tolerance"/>
          <p:cNvSpPr/>
          <p:nvPr/>
        </p:nvSpPr>
        <p:spPr>
          <a:xfrm>
            <a:off x="6126480" y="1234440"/>
            <a:ext cx="2651760" cy="2697480"/>
          </a:xfrm>
          <a:prstGeom prst="roundRect">
            <a:avLst>
              <a:gd name="adj" fmla="val 3448"/>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19" name="Text 17"/>
          <p:cNvSpPr txBox="1"/>
          <p:nvPr/>
        </p:nvSpPr>
        <p:spPr>
          <a:xfrm>
            <a:off x="6309360" y="1371600"/>
            <a:ext cx="2286000" cy="365760"/>
          </a:xfrm>
          <a:prstGeom prst="rect">
            <a:avLst/>
          </a:prstGeom>
          <a:noFill/>
          <a:ln/>
        </p:spPr>
        <p:txBody>
          <a:bodyPr wrap="square" lIns="0" tIns="0" rIns="0" bIns="0" rtlCol="0" anchor="ctr"/>
          <a:lstStyle/>
          <a:p>
            <a:pPr indent="0" marL="0">
              <a:buNone/>
            </a:pPr>
            <a:r>
              <a:rPr lang="en-US" sz="1800" b="1" dirty="0">
                <a:solidFill>
                  <a:srgbClr val="1B8F7A"/>
                </a:solidFill>
                <a:latin typeface="Cambria" pitchFamily="34" charset="0"/>
                <a:ea typeface="Cambria" pitchFamily="34" charset="-122"/>
                <a:cs typeface="Cambria" pitchFamily="34" charset="-120"/>
              </a:rPr>
              <a:t>Risk tolerance</a:t>
            </a:r>
            <a:endParaRPr lang="en-US" sz="1800" dirty="0"/>
          </a:p>
        </p:txBody>
      </p:sp>
      <p:sp>
        <p:nvSpPr>
          <p:cNvPr id="20" name="Text 18"/>
          <p:cNvSpPr txBox="1"/>
          <p:nvPr/>
        </p:nvSpPr>
        <p:spPr>
          <a:xfrm>
            <a:off x="6309360" y="1719072"/>
            <a:ext cx="2286000" cy="274320"/>
          </a:xfrm>
          <a:prstGeom prst="rect">
            <a:avLst/>
          </a:prstGeom>
          <a:noFill/>
          <a:ln/>
        </p:spPr>
        <p:txBody>
          <a:bodyPr wrap="square" lIns="0" tIns="0" rIns="0" bIns="0" rtlCol="0" anchor="ctr"/>
          <a:lstStyle/>
          <a:p>
            <a:pPr indent="0" marL="0">
              <a:buNone/>
            </a:pPr>
            <a:r>
              <a:rPr lang="en-US" sz="1200" dirty="0">
                <a:solidFill>
                  <a:srgbClr val="4A6275"/>
                </a:solidFill>
              </a:rPr>
              <a:t>sets the thresholds</a:t>
            </a:r>
            <a:endParaRPr lang="en-US" sz="1200" dirty="0"/>
          </a:p>
        </p:txBody>
      </p:sp>
      <p:sp>
        <p:nvSpPr>
          <p:cNvPr id="21" name="Text 19"/>
          <p:cNvSpPr txBox="1"/>
          <p:nvPr/>
        </p:nvSpPr>
        <p:spPr>
          <a:xfrm>
            <a:off x="6309360" y="2103120"/>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low</a:t>
            </a:r>
            <a:endParaRPr lang="en-US" sz="1400" dirty="0"/>
          </a:p>
        </p:txBody>
      </p:sp>
      <p:sp>
        <p:nvSpPr>
          <p:cNvPr id="22" name="Text 20"/>
          <p:cNvSpPr txBox="1"/>
          <p:nvPr/>
        </p:nvSpPr>
        <p:spPr>
          <a:xfrm>
            <a:off x="6309360" y="2350008"/>
            <a:ext cx="2286000" cy="256032"/>
          </a:xfrm>
          <a:prstGeom prst="rect">
            <a:avLst/>
          </a:prstGeom>
          <a:noFill/>
          <a:ln/>
        </p:spPr>
        <p:txBody>
          <a:bodyPr wrap="square" lIns="0" tIns="0" rIns="0" bIns="0" rtlCol="0" anchor="ctr"/>
          <a:lstStyle/>
          <a:p>
            <a:pPr indent="0" marL="0">
              <a:buNone/>
            </a:pPr>
            <a:r>
              <a:rPr lang="en-US" sz="1400" dirty="0">
                <a:solidFill>
                  <a:srgbClr val="4A6275"/>
                </a:solidFill>
              </a:rPr>
              <a:t>neg ≤ 0.30, pos ≥ 0.70</a:t>
            </a:r>
            <a:endParaRPr lang="en-US" sz="1400" dirty="0"/>
          </a:p>
        </p:txBody>
      </p:sp>
      <p:sp>
        <p:nvSpPr>
          <p:cNvPr id="23" name="Text 21"/>
          <p:cNvSpPr txBox="1"/>
          <p:nvPr/>
        </p:nvSpPr>
        <p:spPr>
          <a:xfrm>
            <a:off x="6309360" y="2633472"/>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medium</a:t>
            </a:r>
            <a:endParaRPr lang="en-US" sz="1400" dirty="0"/>
          </a:p>
        </p:txBody>
      </p:sp>
      <p:sp>
        <p:nvSpPr>
          <p:cNvPr id="24" name="Text 22"/>
          <p:cNvSpPr txBox="1"/>
          <p:nvPr/>
        </p:nvSpPr>
        <p:spPr>
          <a:xfrm>
            <a:off x="6309360" y="2880360"/>
            <a:ext cx="2286000" cy="256032"/>
          </a:xfrm>
          <a:prstGeom prst="rect">
            <a:avLst/>
          </a:prstGeom>
          <a:noFill/>
          <a:ln/>
        </p:spPr>
        <p:txBody>
          <a:bodyPr wrap="square" lIns="0" tIns="0" rIns="0" bIns="0" rtlCol="0" anchor="ctr"/>
          <a:lstStyle/>
          <a:p>
            <a:pPr indent="0" marL="0">
              <a:buNone/>
            </a:pPr>
            <a:r>
              <a:rPr lang="en-US" sz="1400" dirty="0">
                <a:solidFill>
                  <a:srgbClr val="4A6275"/>
                </a:solidFill>
              </a:rPr>
              <a:t>neg ≤ 0.40, pos ≥ 0.60</a:t>
            </a:r>
            <a:endParaRPr lang="en-US" sz="1400" dirty="0"/>
          </a:p>
        </p:txBody>
      </p:sp>
      <p:sp>
        <p:nvSpPr>
          <p:cNvPr id="25" name="Text 23"/>
          <p:cNvSpPr txBox="1"/>
          <p:nvPr/>
        </p:nvSpPr>
        <p:spPr>
          <a:xfrm>
            <a:off x="6309360" y="3163824"/>
            <a:ext cx="2286000" cy="256032"/>
          </a:xfrm>
          <a:prstGeom prst="rect">
            <a:avLst/>
          </a:prstGeom>
          <a:noFill/>
          <a:ln/>
        </p:spPr>
        <p:txBody>
          <a:bodyPr wrap="square" lIns="0" tIns="0" rIns="0" bIns="0" rtlCol="0" anchor="ctr"/>
          <a:lstStyle/>
          <a:p>
            <a:pPr indent="0" marL="0">
              <a:buNone/>
            </a:pPr>
            <a:r>
              <a:rPr lang="en-US" sz="1400" b="1" dirty="0">
                <a:solidFill>
                  <a:srgbClr val="0F2A3D"/>
                </a:solidFill>
              </a:rPr>
              <a:t>high</a:t>
            </a:r>
            <a:endParaRPr lang="en-US" sz="1400" dirty="0"/>
          </a:p>
        </p:txBody>
      </p:sp>
      <p:sp>
        <p:nvSpPr>
          <p:cNvPr id="26" name="Text 24"/>
          <p:cNvSpPr txBox="1"/>
          <p:nvPr/>
        </p:nvSpPr>
        <p:spPr>
          <a:xfrm>
            <a:off x="6309360" y="3410712"/>
            <a:ext cx="2286000" cy="256032"/>
          </a:xfrm>
          <a:prstGeom prst="rect">
            <a:avLst/>
          </a:prstGeom>
          <a:noFill/>
          <a:ln/>
        </p:spPr>
        <p:txBody>
          <a:bodyPr wrap="square" lIns="0" tIns="0" rIns="0" bIns="0" rtlCol="0" anchor="ctr"/>
          <a:lstStyle/>
          <a:p>
            <a:pPr indent="0" marL="0">
              <a:buNone/>
            </a:pPr>
            <a:r>
              <a:rPr lang="en-US" sz="1400" dirty="0">
                <a:solidFill>
                  <a:srgbClr val="4A6275"/>
                </a:solidFill>
              </a:rPr>
              <a:t>neg ≤ 0.45, pos ≥ 0.55</a:t>
            </a:r>
            <a:endParaRPr lang="en-US" sz="1400" dirty="0"/>
          </a:p>
        </p:txBody>
      </p:sp>
      <p:sp>
        <p:nvSpPr>
          <p:cNvPr id="27" name="Text 25"/>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600" dirty="0">
                <a:solidFill>
                  <a:srgbClr val="0F2A3D"/>
                </a:solidFill>
              </a:rPr>
              <a:t>Personalized score = weighted mean of two snapshot scores. The free-text thesis description is never used by the algorithm.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API endpoints</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8</a:t>
            </a:r>
            <a:endParaRPr lang="en-US" sz="1000" dirty="0"/>
          </a:p>
        </p:txBody>
      </p:sp>
      <p:sp>
        <p:nvSpPr>
          <p:cNvPr id="4" name="Card Account and thesis"/>
          <p:cNvSpPr/>
          <p:nvPr/>
        </p:nvSpPr>
        <p:spPr>
          <a:xfrm>
            <a:off x="457200" y="1097280"/>
            <a:ext cx="4023360" cy="1828800"/>
          </a:xfrm>
          <a:prstGeom prst="roundRect">
            <a:avLst>
              <a:gd name="adj" fmla="val 5000"/>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5" name="Text 3"/>
          <p:cNvSpPr txBox="1"/>
          <p:nvPr/>
        </p:nvSpPr>
        <p:spPr>
          <a:xfrm>
            <a:off x="640080" y="1170432"/>
            <a:ext cx="3657600" cy="292608"/>
          </a:xfrm>
          <a:prstGeom prst="rect">
            <a:avLst/>
          </a:prstGeom>
          <a:noFill/>
          <a:ln/>
        </p:spPr>
        <p:txBody>
          <a:bodyPr wrap="square" lIns="0" tIns="0" rIns="0" bIns="0" rtlCol="0" anchor="ctr"/>
          <a:lstStyle/>
          <a:p>
            <a:pPr indent="0" marL="0">
              <a:buNone/>
            </a:pPr>
            <a:r>
              <a:rPr lang="en-US" sz="1600" b="1" dirty="0">
                <a:solidFill>
                  <a:srgbClr val="1B8F7A"/>
                </a:solidFill>
                <a:latin typeface="Cambria" pitchFamily="34" charset="0"/>
                <a:ea typeface="Cambria" pitchFamily="34" charset="-122"/>
                <a:cs typeface="Cambria" pitchFamily="34" charset="-120"/>
              </a:rPr>
              <a:t>Account and thesis</a:t>
            </a:r>
            <a:endParaRPr lang="en-US" sz="1600" dirty="0"/>
          </a:p>
        </p:txBody>
      </p:sp>
      <p:sp>
        <p:nvSpPr>
          <p:cNvPr id="6" name="Text 4"/>
          <p:cNvSpPr txBox="1"/>
          <p:nvPr/>
        </p:nvSpPr>
        <p:spPr>
          <a:xfrm>
            <a:off x="640080" y="1481328"/>
            <a:ext cx="3657600" cy="1371600"/>
          </a:xfrm>
          <a:prstGeom prst="rect">
            <a:avLst/>
          </a:prstGeom>
          <a:noFill/>
          <a:ln/>
        </p:spPr>
        <p:txBody>
          <a:bodyPr wrap="square" lIns="0" tIns="0" rIns="0" bIns="0" rtlCol="0" anchor="t"/>
          <a:lstStyle/>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POST /user/account</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POST /user/strategy</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PUT  /user/strategy/{id}</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GET  /user/strategy</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GET  /user/strategy/{company}</a:t>
            </a:r>
            <a:endParaRPr lang="en-US" sz="1200" dirty="0"/>
          </a:p>
        </p:txBody>
      </p:sp>
      <p:sp>
        <p:nvSpPr>
          <p:cNvPr id="7" name="Card Batch"/>
          <p:cNvSpPr/>
          <p:nvPr/>
        </p:nvSpPr>
        <p:spPr>
          <a:xfrm>
            <a:off x="457200" y="3017520"/>
            <a:ext cx="4023360" cy="777240"/>
          </a:xfrm>
          <a:prstGeom prst="roundRect">
            <a:avLst>
              <a:gd name="adj" fmla="val 11765"/>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8" name="Text 6"/>
          <p:cNvSpPr txBox="1"/>
          <p:nvPr/>
        </p:nvSpPr>
        <p:spPr>
          <a:xfrm>
            <a:off x="640080" y="3090672"/>
            <a:ext cx="3657600" cy="292608"/>
          </a:xfrm>
          <a:prstGeom prst="rect">
            <a:avLst/>
          </a:prstGeom>
          <a:noFill/>
          <a:ln/>
        </p:spPr>
        <p:txBody>
          <a:bodyPr wrap="square" lIns="0" tIns="0" rIns="0" bIns="0" rtlCol="0" anchor="ctr"/>
          <a:lstStyle/>
          <a:p>
            <a:pPr indent="0" marL="0">
              <a:buNone/>
            </a:pPr>
            <a:r>
              <a:rPr lang="en-US" sz="1600" b="1" dirty="0">
                <a:solidFill>
                  <a:srgbClr val="1B8F7A"/>
                </a:solidFill>
                <a:latin typeface="Cambria" pitchFamily="34" charset="0"/>
                <a:ea typeface="Cambria" pitchFamily="34" charset="-122"/>
                <a:cs typeface="Cambria" pitchFamily="34" charset="-120"/>
              </a:rPr>
              <a:t>Batch</a:t>
            </a:r>
            <a:endParaRPr lang="en-US" sz="1600" dirty="0"/>
          </a:p>
        </p:txBody>
      </p:sp>
      <p:sp>
        <p:nvSpPr>
          <p:cNvPr id="9" name="Text 7"/>
          <p:cNvSpPr txBox="1"/>
          <p:nvPr/>
        </p:nvSpPr>
        <p:spPr>
          <a:xfrm>
            <a:off x="640080" y="3401568"/>
            <a:ext cx="3657600" cy="320040"/>
          </a:xfrm>
          <a:prstGeom prst="rect">
            <a:avLst/>
          </a:prstGeom>
          <a:noFill/>
          <a:ln/>
        </p:spPr>
        <p:txBody>
          <a:bodyPr wrap="square" lIns="0" tIns="0" rIns="0" bIns="0" rtlCol="0" anchor="t"/>
          <a:lstStyle/>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POST /batch/run</a:t>
            </a:r>
            <a:endParaRPr lang="en-US" sz="1200" dirty="0"/>
          </a:p>
        </p:txBody>
      </p:sp>
      <p:sp>
        <p:nvSpPr>
          <p:cNvPr id="10" name="Card Evaluation"/>
          <p:cNvSpPr/>
          <p:nvPr/>
        </p:nvSpPr>
        <p:spPr>
          <a:xfrm>
            <a:off x="457200" y="3886200"/>
            <a:ext cx="4023360" cy="777240"/>
          </a:xfrm>
          <a:prstGeom prst="roundRect">
            <a:avLst>
              <a:gd name="adj" fmla="val 11765"/>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11" name="Text 9"/>
          <p:cNvSpPr txBox="1"/>
          <p:nvPr/>
        </p:nvSpPr>
        <p:spPr>
          <a:xfrm>
            <a:off x="640080" y="3959352"/>
            <a:ext cx="3657600" cy="292608"/>
          </a:xfrm>
          <a:prstGeom prst="rect">
            <a:avLst/>
          </a:prstGeom>
          <a:noFill/>
          <a:ln/>
        </p:spPr>
        <p:txBody>
          <a:bodyPr wrap="square" lIns="0" tIns="0" rIns="0" bIns="0" rtlCol="0" anchor="ctr"/>
          <a:lstStyle/>
          <a:p>
            <a:pPr indent="0" marL="0">
              <a:buNone/>
            </a:pPr>
            <a:r>
              <a:rPr lang="en-US" sz="1600" b="1" dirty="0">
                <a:solidFill>
                  <a:srgbClr val="1B8F7A"/>
                </a:solidFill>
                <a:latin typeface="Cambria" pitchFamily="34" charset="0"/>
                <a:ea typeface="Cambria" pitchFamily="34" charset="-122"/>
                <a:cs typeface="Cambria" pitchFamily="34" charset="-120"/>
              </a:rPr>
              <a:t>Evaluation</a:t>
            </a:r>
            <a:endParaRPr lang="en-US" sz="1600" dirty="0"/>
          </a:p>
        </p:txBody>
      </p:sp>
      <p:sp>
        <p:nvSpPr>
          <p:cNvPr id="12" name="Text 10"/>
          <p:cNvSpPr txBox="1"/>
          <p:nvPr/>
        </p:nvSpPr>
        <p:spPr>
          <a:xfrm>
            <a:off x="640080" y="4270248"/>
            <a:ext cx="3657600" cy="320040"/>
          </a:xfrm>
          <a:prstGeom prst="rect">
            <a:avLst/>
          </a:prstGeom>
          <a:noFill/>
          <a:ln/>
        </p:spPr>
        <p:txBody>
          <a:bodyPr wrap="square" lIns="0" tIns="0" rIns="0" bIns="0" rtlCol="0" anchor="t"/>
          <a:lstStyle/>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GET  /evaluation/reports/{id}</a:t>
            </a:r>
            <a:endParaRPr lang="en-US" sz="1200" dirty="0"/>
          </a:p>
        </p:txBody>
      </p:sp>
      <p:sp>
        <p:nvSpPr>
          <p:cNvPr id="13" name="Card Prediction"/>
          <p:cNvSpPr/>
          <p:nvPr/>
        </p:nvSpPr>
        <p:spPr>
          <a:xfrm>
            <a:off x="4663440" y="1097280"/>
            <a:ext cx="4023360" cy="1097280"/>
          </a:xfrm>
          <a:prstGeom prst="roundRect">
            <a:avLst>
              <a:gd name="adj" fmla="val 8333"/>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14" name="Text 12"/>
          <p:cNvSpPr txBox="1"/>
          <p:nvPr/>
        </p:nvSpPr>
        <p:spPr>
          <a:xfrm>
            <a:off x="4846320" y="1170432"/>
            <a:ext cx="3657600" cy="292608"/>
          </a:xfrm>
          <a:prstGeom prst="rect">
            <a:avLst/>
          </a:prstGeom>
          <a:noFill/>
          <a:ln/>
        </p:spPr>
        <p:txBody>
          <a:bodyPr wrap="square" lIns="0" tIns="0" rIns="0" bIns="0" rtlCol="0" anchor="ctr"/>
          <a:lstStyle/>
          <a:p>
            <a:pPr indent="0" marL="0">
              <a:buNone/>
            </a:pPr>
            <a:r>
              <a:rPr lang="en-US" sz="1600" b="1" dirty="0">
                <a:solidFill>
                  <a:srgbClr val="1B8F7A"/>
                </a:solidFill>
                <a:latin typeface="Cambria" pitchFamily="34" charset="0"/>
                <a:ea typeface="Cambria" pitchFamily="34" charset="-122"/>
                <a:cs typeface="Cambria" pitchFamily="34" charset="-120"/>
              </a:rPr>
              <a:t>Prediction</a:t>
            </a:r>
            <a:endParaRPr lang="en-US" sz="1600" dirty="0"/>
          </a:p>
        </p:txBody>
      </p:sp>
      <p:sp>
        <p:nvSpPr>
          <p:cNvPr id="15" name="Text 13"/>
          <p:cNvSpPr txBox="1"/>
          <p:nvPr/>
        </p:nvSpPr>
        <p:spPr>
          <a:xfrm>
            <a:off x="4846320" y="1481328"/>
            <a:ext cx="3657600" cy="640080"/>
          </a:xfrm>
          <a:prstGeom prst="rect">
            <a:avLst/>
          </a:prstGeom>
          <a:noFill/>
          <a:ln/>
        </p:spPr>
        <p:txBody>
          <a:bodyPr wrap="square" lIns="0" tIns="0" rIns="0" bIns="0" rtlCol="0" anchor="t"/>
          <a:lstStyle/>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GET /companies/{c}/prediction</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GET /user/history/{user_id}</a:t>
            </a:r>
            <a:endParaRPr lang="en-US" sz="1200" dirty="0"/>
          </a:p>
        </p:txBody>
      </p:sp>
      <p:sp>
        <p:nvSpPr>
          <p:cNvPr id="16" name="Card Ingestion"/>
          <p:cNvSpPr/>
          <p:nvPr/>
        </p:nvSpPr>
        <p:spPr>
          <a:xfrm>
            <a:off x="4663440" y="2286000"/>
            <a:ext cx="4023360" cy="1097280"/>
          </a:xfrm>
          <a:prstGeom prst="roundRect">
            <a:avLst>
              <a:gd name="adj" fmla="val 8333"/>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17" name="Text 15"/>
          <p:cNvSpPr txBox="1"/>
          <p:nvPr/>
        </p:nvSpPr>
        <p:spPr>
          <a:xfrm>
            <a:off x="4846320" y="2359152"/>
            <a:ext cx="3657600" cy="292608"/>
          </a:xfrm>
          <a:prstGeom prst="rect">
            <a:avLst/>
          </a:prstGeom>
          <a:noFill/>
          <a:ln/>
        </p:spPr>
        <p:txBody>
          <a:bodyPr wrap="square" lIns="0" tIns="0" rIns="0" bIns="0" rtlCol="0" anchor="ctr"/>
          <a:lstStyle/>
          <a:p>
            <a:pPr indent="0" marL="0">
              <a:buNone/>
            </a:pPr>
            <a:r>
              <a:rPr lang="en-US" sz="1600" b="1" dirty="0">
                <a:solidFill>
                  <a:srgbClr val="1B8F7A"/>
                </a:solidFill>
                <a:latin typeface="Cambria" pitchFamily="34" charset="0"/>
                <a:ea typeface="Cambria" pitchFamily="34" charset="-122"/>
                <a:cs typeface="Cambria" pitchFamily="34" charset="-120"/>
              </a:rPr>
              <a:t>Ingestion</a:t>
            </a:r>
            <a:endParaRPr lang="en-US" sz="1600" dirty="0"/>
          </a:p>
        </p:txBody>
      </p:sp>
      <p:sp>
        <p:nvSpPr>
          <p:cNvPr id="18" name="Text 16"/>
          <p:cNvSpPr txBox="1"/>
          <p:nvPr/>
        </p:nvSpPr>
        <p:spPr>
          <a:xfrm>
            <a:off x="4846320" y="2670048"/>
            <a:ext cx="3657600" cy="640080"/>
          </a:xfrm>
          <a:prstGeom prst="rect">
            <a:avLst/>
          </a:prstGeom>
          <a:noFill/>
          <a:ln/>
        </p:spPr>
        <p:txBody>
          <a:bodyPr wrap="square" lIns="0" tIns="0" rIns="0" bIns="0" rtlCol="0" anchor="t"/>
          <a:lstStyle/>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POST /companies/{c}/ingest</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POST /companies/{c}   (fixture)</a:t>
            </a:r>
            <a:endParaRPr lang="en-US" sz="1200" dirty="0"/>
          </a:p>
        </p:txBody>
      </p:sp>
      <p:sp>
        <p:nvSpPr>
          <p:cNvPr id="19" name="Card System"/>
          <p:cNvSpPr/>
          <p:nvPr/>
        </p:nvSpPr>
        <p:spPr>
          <a:xfrm>
            <a:off x="4663440" y="3474720"/>
            <a:ext cx="4023360" cy="1188720"/>
          </a:xfrm>
          <a:prstGeom prst="roundRect">
            <a:avLst>
              <a:gd name="adj" fmla="val 7692"/>
            </a:avLst>
          </a:prstGeom>
          <a:solidFill>
            <a:srgbClr val="F4F7F9"/>
          </a:solidFill>
          <a:ln w="9525">
            <a:solidFill>
              <a:srgbClr val="D5DEE5"/>
            </a:solidFill>
            <a:prstDash val="solid"/>
          </a:ln>
          <a:effectLst>
            <a:outerShdw sx="100000" sy="100000" kx="0" ky="0" algn="bl" rotWithShape="0" blurRad="101600" dist="25400" dir="5400000">
              <a:srgbClr val="0F2A3D">
                <a:alpha val="12000"/>
              </a:srgbClr>
            </a:outerShdw>
          </a:effectLst>
        </p:spPr>
      </p:sp>
      <p:sp>
        <p:nvSpPr>
          <p:cNvPr id="20" name="Text 18"/>
          <p:cNvSpPr txBox="1"/>
          <p:nvPr/>
        </p:nvSpPr>
        <p:spPr>
          <a:xfrm>
            <a:off x="4846320" y="3547872"/>
            <a:ext cx="3657600" cy="292608"/>
          </a:xfrm>
          <a:prstGeom prst="rect">
            <a:avLst/>
          </a:prstGeom>
          <a:noFill/>
          <a:ln/>
        </p:spPr>
        <p:txBody>
          <a:bodyPr wrap="square" lIns="0" tIns="0" rIns="0" bIns="0" rtlCol="0" anchor="ctr"/>
          <a:lstStyle/>
          <a:p>
            <a:pPr indent="0" marL="0">
              <a:buNone/>
            </a:pPr>
            <a:r>
              <a:rPr lang="en-US" sz="1600" b="1" dirty="0">
                <a:solidFill>
                  <a:srgbClr val="1B8F7A"/>
                </a:solidFill>
                <a:latin typeface="Cambria" pitchFamily="34" charset="0"/>
                <a:ea typeface="Cambria" pitchFamily="34" charset="-122"/>
                <a:cs typeface="Cambria" pitchFamily="34" charset="-120"/>
              </a:rPr>
              <a:t>System</a:t>
            </a:r>
            <a:endParaRPr lang="en-US" sz="1600" dirty="0"/>
          </a:p>
        </p:txBody>
      </p:sp>
      <p:sp>
        <p:nvSpPr>
          <p:cNvPr id="21" name="Text 19"/>
          <p:cNvSpPr txBox="1"/>
          <p:nvPr/>
        </p:nvSpPr>
        <p:spPr>
          <a:xfrm>
            <a:off x="4846320" y="3858768"/>
            <a:ext cx="3657600" cy="731520"/>
          </a:xfrm>
          <a:prstGeom prst="rect">
            <a:avLst/>
          </a:prstGeom>
          <a:noFill/>
          <a:ln/>
        </p:spPr>
        <p:txBody>
          <a:bodyPr wrap="square" lIns="0" tIns="0" rIns="0" bIns="0" rtlCol="0" anchor="t"/>
          <a:lstStyle/>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GET /health</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/metrics   (no custom metrics)</a:t>
            </a:r>
            <a:endParaRPr lang="en-US" sz="1200" dirty="0"/>
          </a:p>
          <a:p>
            <a:pPr indent="0" marL="0">
              <a:spcAft>
                <a:spcPts val="200"/>
              </a:spcAft>
              <a:buNone/>
            </a:pPr>
            <a:r>
              <a:rPr lang="en-US" sz="1200" dirty="0">
                <a:solidFill>
                  <a:srgbClr val="0F2A3D"/>
                </a:solidFill>
                <a:latin typeface="Courier New" pitchFamily="34" charset="0"/>
                <a:ea typeface="Courier New" pitchFamily="34" charset="-122"/>
                <a:cs typeface="Courier New" pitchFamily="34" charset="-120"/>
              </a:rPr>
              <a:t>/ui        (local console)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Flow: account, thesis, prediction</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9</a:t>
            </a:r>
            <a:endParaRPr lang="en-US" sz="1000" dirty="0"/>
          </a:p>
        </p:txBody>
      </p:sp>
      <p:pic>
        <p:nvPicPr>
          <p:cNvPr id="4" name="User flow sequence" descr="User flow sequence">    </p:cNvPr>
          <p:cNvPicPr>
            <a:picLocks noChangeAspect="1"/>
          </p:cNvPicPr>
          <p:nvPr/>
        </p:nvPicPr>
        <p:blipFill>
          <a:blip r:embed="rId1"/>
          <a:stretch>
            <a:fillRect/>
          </a:stretch>
        </p:blipFill>
        <p:spPr>
          <a:xfrm>
            <a:off x="365760" y="1075820"/>
            <a:ext cx="6583680" cy="3426201"/>
          </a:xfrm>
          <a:prstGeom prst="rect">
            <a:avLst/>
          </a:prstGeom>
        </p:spPr>
      </p:pic>
      <p:sp>
        <p:nvSpPr>
          <p:cNvPr id="5" name="Badge 1"/>
          <p:cNvSpPr/>
          <p:nvPr/>
        </p:nvSpPr>
        <p:spPr>
          <a:xfrm>
            <a:off x="7223760" y="1371600"/>
            <a:ext cx="457200" cy="457200"/>
          </a:xfrm>
          <a:prstGeom prst="ellipse">
            <a:avLst/>
          </a:prstGeom>
          <a:solidFill>
            <a:srgbClr val="1B8F7A"/>
          </a:solidFill>
          <a:ln w="12700">
            <a:solidFill>
              <a:srgbClr val="1B8F7A"/>
            </a:solidFill>
            <a:prstDash val="solid"/>
          </a:ln>
        </p:spPr>
      </p:sp>
      <p:sp>
        <p:nvSpPr>
          <p:cNvPr id="6" name="Text 3"/>
          <p:cNvSpPr txBox="1"/>
          <p:nvPr/>
        </p:nvSpPr>
        <p:spPr>
          <a:xfrm>
            <a:off x="722376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818120" y="1371600"/>
            <a:ext cx="1005840" cy="640080"/>
          </a:xfrm>
          <a:prstGeom prst="rect">
            <a:avLst/>
          </a:prstGeom>
          <a:noFill/>
          <a:ln/>
        </p:spPr>
        <p:txBody>
          <a:bodyPr wrap="square" lIns="0" tIns="0" rIns="0" bIns="0" rtlCol="0" anchor="t"/>
          <a:lstStyle/>
          <a:p>
            <a:pPr indent="0" marL="0">
              <a:buNone/>
            </a:pPr>
            <a:r>
              <a:rPr lang="en-US" sz="1400" dirty="0">
                <a:solidFill>
                  <a:srgbClr val="0F2A3D"/>
                </a:solidFill>
              </a:rPr>
              <a:t>API key issued once</a:t>
            </a:r>
            <a:endParaRPr lang="en-US" sz="1400" dirty="0"/>
          </a:p>
        </p:txBody>
      </p:sp>
      <p:sp>
        <p:nvSpPr>
          <p:cNvPr id="8" name="Badge 2"/>
          <p:cNvSpPr/>
          <p:nvPr/>
        </p:nvSpPr>
        <p:spPr>
          <a:xfrm>
            <a:off x="7223760" y="2377440"/>
            <a:ext cx="457200" cy="457200"/>
          </a:xfrm>
          <a:prstGeom prst="ellipse">
            <a:avLst/>
          </a:prstGeom>
          <a:solidFill>
            <a:srgbClr val="1B8F7A"/>
          </a:solidFill>
          <a:ln w="12700">
            <a:solidFill>
              <a:srgbClr val="1B8F7A"/>
            </a:solidFill>
            <a:prstDash val="solid"/>
          </a:ln>
        </p:spPr>
      </p:sp>
      <p:sp>
        <p:nvSpPr>
          <p:cNvPr id="9" name="Text 6"/>
          <p:cNvSpPr txBox="1"/>
          <p:nvPr/>
        </p:nvSpPr>
        <p:spPr>
          <a:xfrm>
            <a:off x="7223760" y="2377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ext 7"/>
          <p:cNvSpPr txBox="1"/>
          <p:nvPr/>
        </p:nvSpPr>
        <p:spPr>
          <a:xfrm>
            <a:off x="7818120" y="2377440"/>
            <a:ext cx="1005840" cy="640080"/>
          </a:xfrm>
          <a:prstGeom prst="rect">
            <a:avLst/>
          </a:prstGeom>
          <a:noFill/>
          <a:ln/>
        </p:spPr>
        <p:txBody>
          <a:bodyPr wrap="square" lIns="0" tIns="0" rIns="0" bIns="0" rtlCol="0" anchor="t"/>
          <a:lstStyle/>
          <a:p>
            <a:pPr indent="0" marL="0">
              <a:buNone/>
            </a:pPr>
            <a:r>
              <a:rPr lang="en-US" sz="1400" dirty="0">
                <a:solidFill>
                  <a:srgbClr val="0F2A3D"/>
                </a:solidFill>
              </a:rPr>
              <a:t>Thesis is structured fields</a:t>
            </a:r>
            <a:endParaRPr lang="en-US" sz="1400" dirty="0"/>
          </a:p>
        </p:txBody>
      </p:sp>
      <p:sp>
        <p:nvSpPr>
          <p:cNvPr id="11" name="Badge 3"/>
          <p:cNvSpPr/>
          <p:nvPr/>
        </p:nvSpPr>
        <p:spPr>
          <a:xfrm>
            <a:off x="7223760" y="3383280"/>
            <a:ext cx="457200" cy="457200"/>
          </a:xfrm>
          <a:prstGeom prst="ellipse">
            <a:avLst/>
          </a:prstGeom>
          <a:solidFill>
            <a:srgbClr val="1B8F7A"/>
          </a:solidFill>
          <a:ln w="12700">
            <a:solidFill>
              <a:srgbClr val="1B8F7A"/>
            </a:solidFill>
            <a:prstDash val="solid"/>
          </a:ln>
        </p:spPr>
      </p:sp>
      <p:sp>
        <p:nvSpPr>
          <p:cNvPr id="12" name="Text 9"/>
          <p:cNvSpPr txBox="1"/>
          <p:nvPr/>
        </p:nvSpPr>
        <p:spPr>
          <a:xfrm>
            <a:off x="722376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ext 10"/>
          <p:cNvSpPr txBox="1"/>
          <p:nvPr/>
        </p:nvSpPr>
        <p:spPr>
          <a:xfrm>
            <a:off x="7818120" y="3383280"/>
            <a:ext cx="1005840" cy="640080"/>
          </a:xfrm>
          <a:prstGeom prst="rect">
            <a:avLst/>
          </a:prstGeom>
          <a:noFill/>
          <a:ln/>
        </p:spPr>
        <p:txBody>
          <a:bodyPr wrap="square" lIns="0" tIns="0" rIns="0" bIns="0" rtlCol="0" anchor="t"/>
          <a:lstStyle/>
          <a:p>
            <a:pPr indent="0" marL="0">
              <a:buNone/>
            </a:pPr>
            <a:r>
              <a:rPr lang="en-US" sz="1400" dirty="0">
                <a:solidFill>
                  <a:srgbClr val="0F2A3D"/>
                </a:solidFill>
              </a:rPr>
              <a:t>Latest completed run only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Flow: ingestion and batch</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10</a:t>
            </a:r>
            <a:endParaRPr lang="en-US" sz="1000" dirty="0"/>
          </a:p>
        </p:txBody>
      </p:sp>
      <p:pic>
        <p:nvPicPr>
          <p:cNvPr id="4" name="Batch flow sequence" descr="Batch flow sequence">    </p:cNvPr>
          <p:cNvPicPr>
            <a:picLocks noChangeAspect="1"/>
          </p:cNvPicPr>
          <p:nvPr/>
        </p:nvPicPr>
        <p:blipFill>
          <a:blip r:embed="rId1"/>
          <a:stretch>
            <a:fillRect/>
          </a:stretch>
        </p:blipFill>
        <p:spPr>
          <a:xfrm>
            <a:off x="383985" y="1005840"/>
            <a:ext cx="8376030" cy="3108960"/>
          </a:xfrm>
          <a:prstGeom prst="rect">
            <a:avLst/>
          </a:prstGeom>
        </p:spPr>
      </p:pic>
      <p:sp>
        <p:nvSpPr>
          <p:cNvPr id="5" name="Text 2"/>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400" b="1" dirty="0">
                <a:solidFill>
                  <a:srgbClr val="0F2A3D"/>
                </a:solidFill>
              </a:rPr>
              <a:t>Stages: </a:t>
            </a:r>
            <a:pPr indent="0" marL="0">
              <a:buNone/>
            </a:pPr>
            <a:r>
              <a:rPr lang="en-US" sz="1400" dirty="0">
                <a:solidFill>
                  <a:srgbClr val="4A6275"/>
                </a:solidFill>
              </a:rPr>
              <a:t>ingest, index, score, aggregate, exclusion sync</a:t>
            </a:r>
            <a:endParaRPr lang="en-US" sz="1400" dirty="0"/>
          </a:p>
          <a:p>
            <a:pPr indent="0" marL="0">
              <a:buNone/>
            </a:pPr>
            <a:r>
              <a:rPr lang="en-US" sz="1400" b="1" dirty="0">
                <a:solidFill>
                  <a:srgbClr val="0F2A3D"/>
                </a:solidFill>
              </a:rPr>
              <a:t>Scope: </a:t>
            </a:r>
            <a:pPr indent="0" marL="0">
              <a:buNone/>
            </a:pPr>
            <a:r>
              <a:rPr lang="en-US" sz="1400" dirty="0">
                <a:solidFill>
                  <a:srgbClr val="4A6275"/>
                </a:solidFill>
              </a:rPr>
              <a:t>operational cache or frozen corpus; only documents published before the as-of date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Evaluation setup</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11</a:t>
            </a:r>
            <a:endParaRPr lang="en-US" sz="1000" dirty="0"/>
          </a:p>
        </p:txBody>
      </p:sp>
      <p:pic>
        <p:nvPicPr>
          <p:cNvPr id="4" name="Evaluation diagram" descr="Evaluation diagram">    </p:cNvPr>
          <p:cNvPicPr>
            <a:picLocks noChangeAspect="1"/>
          </p:cNvPicPr>
          <p:nvPr/>
        </p:nvPicPr>
        <p:blipFill>
          <a:blip r:embed="rId1"/>
          <a:stretch>
            <a:fillRect/>
          </a:stretch>
        </p:blipFill>
        <p:spPr>
          <a:xfrm>
            <a:off x="825666" y="1005840"/>
            <a:ext cx="3286428" cy="3611880"/>
          </a:xfrm>
          <a:prstGeom prst="rect">
            <a:avLst/>
          </a:prstGeom>
        </p:spPr>
      </p:pic>
      <p:graphicFrame>
        <p:nvGraphicFramePr>
          <p:cNvPr id="5" name="Chart 0" descr=""/>
          <p:cNvGraphicFramePr/>
          <p:nvPr/>
        </p:nvGraphicFramePr>
        <p:xfrm>
          <a:off x="4754880" y="1188720"/>
          <a:ext cx="4023360" cy="32004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What is real, what is not</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12</a:t>
            </a:r>
            <a:endParaRPr lang="en-US" sz="1000" dirty="0"/>
          </a:p>
        </p:txBody>
      </p:sp>
      <p:sp>
        <p:nvSpPr>
          <p:cNvPr id="4" name="Row 1"/>
          <p:cNvSpPr/>
          <p:nvPr/>
        </p:nvSpPr>
        <p:spPr>
          <a:xfrm>
            <a:off x="457200" y="1097280"/>
            <a:ext cx="8229600" cy="402336"/>
          </a:xfrm>
          <a:prstGeom prst="roundRect">
            <a:avLst>
              <a:gd name="adj" fmla="val 13636"/>
            </a:avLst>
          </a:prstGeom>
          <a:solidFill>
            <a:srgbClr val="F4F7F9"/>
          </a:solidFill>
          <a:ln w="6350">
            <a:solidFill>
              <a:srgbClr val="D5DEE5"/>
            </a:solidFill>
            <a:prstDash val="solid"/>
          </a:ln>
        </p:spPr>
      </p:sp>
      <p:sp>
        <p:nvSpPr>
          <p:cNvPr id="5" name="Text 3"/>
          <p:cNvSpPr txBox="1"/>
          <p:nvPr/>
        </p:nvSpPr>
        <p:spPr>
          <a:xfrm>
            <a:off x="640080" y="1097280"/>
            <a:ext cx="5669280" cy="402336"/>
          </a:xfrm>
          <a:prstGeom prst="rect">
            <a:avLst/>
          </a:prstGeom>
          <a:noFill/>
          <a:ln/>
        </p:spPr>
        <p:txBody>
          <a:bodyPr wrap="square" lIns="0" tIns="0" rIns="0" bIns="0" rtlCol="0" anchor="ctr"/>
          <a:lstStyle/>
          <a:p>
            <a:pPr indent="0" marL="0">
              <a:buNone/>
            </a:pPr>
            <a:r>
              <a:rPr lang="en-US" sz="1400" dirty="0">
                <a:solidFill>
                  <a:srgbClr val="0F2A3D"/>
                </a:solidFill>
              </a:rPr>
              <a:t>Cached SEC and IR corpus, market prices</a:t>
            </a:r>
            <a:endParaRPr lang="en-US" sz="1400" dirty="0"/>
          </a:p>
        </p:txBody>
      </p:sp>
      <p:sp>
        <p:nvSpPr>
          <p:cNvPr id="6" name="State 1"/>
          <p:cNvSpPr/>
          <p:nvPr/>
        </p:nvSpPr>
        <p:spPr>
          <a:xfrm>
            <a:off x="6858000" y="1161288"/>
            <a:ext cx="1645920" cy="274320"/>
          </a:xfrm>
          <a:prstGeom prst="roundRect">
            <a:avLst>
              <a:gd name="adj" fmla="val 50000"/>
            </a:avLst>
          </a:prstGeom>
          <a:solidFill>
            <a:srgbClr val="1B8F7A"/>
          </a:solidFill>
          <a:ln w="12700">
            <a:solidFill>
              <a:srgbClr val="1B8F7A"/>
            </a:solidFill>
            <a:prstDash val="solid"/>
          </a:ln>
        </p:spPr>
      </p:sp>
      <p:sp>
        <p:nvSpPr>
          <p:cNvPr id="7" name="Text 5"/>
          <p:cNvSpPr txBox="1"/>
          <p:nvPr/>
        </p:nvSpPr>
        <p:spPr>
          <a:xfrm>
            <a:off x="6858000" y="1161288"/>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rPr>
              <a:t>Real</a:t>
            </a:r>
            <a:endParaRPr lang="en-US" sz="1200" dirty="0"/>
          </a:p>
        </p:txBody>
      </p:sp>
      <p:sp>
        <p:nvSpPr>
          <p:cNvPr id="8" name="Row 2"/>
          <p:cNvSpPr/>
          <p:nvPr/>
        </p:nvSpPr>
        <p:spPr>
          <a:xfrm>
            <a:off x="457200" y="1572768"/>
            <a:ext cx="8229600" cy="402336"/>
          </a:xfrm>
          <a:prstGeom prst="roundRect">
            <a:avLst>
              <a:gd name="adj" fmla="val 13636"/>
            </a:avLst>
          </a:prstGeom>
          <a:solidFill>
            <a:srgbClr val="FFFFFF"/>
          </a:solidFill>
          <a:ln w="6350">
            <a:solidFill>
              <a:srgbClr val="D5DEE5"/>
            </a:solidFill>
            <a:prstDash val="solid"/>
          </a:ln>
        </p:spPr>
      </p:sp>
      <p:sp>
        <p:nvSpPr>
          <p:cNvPr id="9" name="Text 7"/>
          <p:cNvSpPr txBox="1"/>
          <p:nvPr/>
        </p:nvSpPr>
        <p:spPr>
          <a:xfrm>
            <a:off x="640080" y="1572768"/>
            <a:ext cx="5669280" cy="402336"/>
          </a:xfrm>
          <a:prstGeom prst="rect">
            <a:avLst/>
          </a:prstGeom>
          <a:noFill/>
          <a:ln/>
        </p:spPr>
        <p:txBody>
          <a:bodyPr wrap="square" lIns="0" tIns="0" rIns="0" bIns="0" rtlCol="0" anchor="ctr"/>
          <a:lstStyle/>
          <a:p>
            <a:pPr indent="0" marL="0">
              <a:buNone/>
            </a:pPr>
            <a:r>
              <a:rPr lang="en-US" sz="1400" dirty="0">
                <a:solidFill>
                  <a:srgbClr val="0F2A3D"/>
                </a:solidFill>
              </a:rPr>
              <a:t>PostgreSQL and Qdrant persistence</a:t>
            </a:r>
            <a:endParaRPr lang="en-US" sz="1400" dirty="0"/>
          </a:p>
        </p:txBody>
      </p:sp>
      <p:sp>
        <p:nvSpPr>
          <p:cNvPr id="10" name="State 2"/>
          <p:cNvSpPr/>
          <p:nvPr/>
        </p:nvSpPr>
        <p:spPr>
          <a:xfrm>
            <a:off x="6858000" y="1636776"/>
            <a:ext cx="1645920" cy="274320"/>
          </a:xfrm>
          <a:prstGeom prst="roundRect">
            <a:avLst>
              <a:gd name="adj" fmla="val 50000"/>
            </a:avLst>
          </a:prstGeom>
          <a:solidFill>
            <a:srgbClr val="1B8F7A"/>
          </a:solidFill>
          <a:ln w="12700">
            <a:solidFill>
              <a:srgbClr val="1B8F7A"/>
            </a:solidFill>
            <a:prstDash val="solid"/>
          </a:ln>
        </p:spPr>
      </p:sp>
      <p:sp>
        <p:nvSpPr>
          <p:cNvPr id="11" name="Text 9"/>
          <p:cNvSpPr txBox="1"/>
          <p:nvPr/>
        </p:nvSpPr>
        <p:spPr>
          <a:xfrm>
            <a:off x="6858000" y="1636776"/>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rPr>
              <a:t>Real</a:t>
            </a:r>
            <a:endParaRPr lang="en-US" sz="1200" dirty="0"/>
          </a:p>
        </p:txBody>
      </p:sp>
      <p:sp>
        <p:nvSpPr>
          <p:cNvPr id="12" name="Row 3"/>
          <p:cNvSpPr/>
          <p:nvPr/>
        </p:nvSpPr>
        <p:spPr>
          <a:xfrm>
            <a:off x="457200" y="2048256"/>
            <a:ext cx="8229600" cy="402336"/>
          </a:xfrm>
          <a:prstGeom prst="roundRect">
            <a:avLst>
              <a:gd name="adj" fmla="val 13636"/>
            </a:avLst>
          </a:prstGeom>
          <a:solidFill>
            <a:srgbClr val="F4F7F9"/>
          </a:solidFill>
          <a:ln w="6350">
            <a:solidFill>
              <a:srgbClr val="D5DEE5"/>
            </a:solidFill>
            <a:prstDash val="solid"/>
          </a:ln>
        </p:spPr>
      </p:sp>
      <p:sp>
        <p:nvSpPr>
          <p:cNvPr id="13" name="Text 11"/>
          <p:cNvSpPr txBox="1"/>
          <p:nvPr/>
        </p:nvSpPr>
        <p:spPr>
          <a:xfrm>
            <a:off x="640080" y="2048256"/>
            <a:ext cx="5669280" cy="402336"/>
          </a:xfrm>
          <a:prstGeom prst="rect">
            <a:avLst/>
          </a:prstGeom>
          <a:noFill/>
          <a:ln/>
        </p:spPr>
        <p:txBody>
          <a:bodyPr wrap="square" lIns="0" tIns="0" rIns="0" bIns="0" rtlCol="0" anchor="ctr"/>
          <a:lstStyle/>
          <a:p>
            <a:pPr indent="0" marL="0">
              <a:buNone/>
            </a:pPr>
            <a:r>
              <a:rPr lang="en-US" sz="1400" dirty="0">
                <a:solidFill>
                  <a:srgbClr val="0F2A3D"/>
                </a:solidFill>
              </a:rPr>
              <a:t>Embeddings: local model or Ollama</a:t>
            </a:r>
            <a:endParaRPr lang="en-US" sz="1400" dirty="0"/>
          </a:p>
        </p:txBody>
      </p:sp>
      <p:sp>
        <p:nvSpPr>
          <p:cNvPr id="14" name="State 3"/>
          <p:cNvSpPr/>
          <p:nvPr/>
        </p:nvSpPr>
        <p:spPr>
          <a:xfrm>
            <a:off x="6858000" y="2112264"/>
            <a:ext cx="1645920" cy="274320"/>
          </a:xfrm>
          <a:prstGeom prst="roundRect">
            <a:avLst>
              <a:gd name="adj" fmla="val 50000"/>
            </a:avLst>
          </a:prstGeom>
          <a:solidFill>
            <a:srgbClr val="1B8F7A"/>
          </a:solidFill>
          <a:ln w="12700">
            <a:solidFill>
              <a:srgbClr val="1B8F7A"/>
            </a:solidFill>
            <a:prstDash val="solid"/>
          </a:ln>
        </p:spPr>
      </p:sp>
      <p:sp>
        <p:nvSpPr>
          <p:cNvPr id="15" name="Text 13"/>
          <p:cNvSpPr txBox="1"/>
          <p:nvPr/>
        </p:nvSpPr>
        <p:spPr>
          <a:xfrm>
            <a:off x="6858000" y="2112264"/>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rPr>
              <a:t>Real</a:t>
            </a:r>
            <a:endParaRPr lang="en-US" sz="1200" dirty="0"/>
          </a:p>
        </p:txBody>
      </p:sp>
      <p:sp>
        <p:nvSpPr>
          <p:cNvPr id="16" name="Row 4"/>
          <p:cNvSpPr/>
          <p:nvPr/>
        </p:nvSpPr>
        <p:spPr>
          <a:xfrm>
            <a:off x="457200" y="2523744"/>
            <a:ext cx="8229600" cy="402336"/>
          </a:xfrm>
          <a:prstGeom prst="roundRect">
            <a:avLst>
              <a:gd name="adj" fmla="val 13636"/>
            </a:avLst>
          </a:prstGeom>
          <a:solidFill>
            <a:srgbClr val="FFFFFF"/>
          </a:solidFill>
          <a:ln w="6350">
            <a:solidFill>
              <a:srgbClr val="D5DEE5"/>
            </a:solidFill>
            <a:prstDash val="solid"/>
          </a:ln>
        </p:spPr>
      </p:sp>
      <p:sp>
        <p:nvSpPr>
          <p:cNvPr id="17" name="Text 15"/>
          <p:cNvSpPr txBox="1"/>
          <p:nvPr/>
        </p:nvSpPr>
        <p:spPr>
          <a:xfrm>
            <a:off x="640080" y="2523744"/>
            <a:ext cx="5669280" cy="402336"/>
          </a:xfrm>
          <a:prstGeom prst="rect">
            <a:avLst/>
          </a:prstGeom>
          <a:noFill/>
          <a:ln/>
        </p:spPr>
        <p:txBody>
          <a:bodyPr wrap="square" lIns="0" tIns="0" rIns="0" bIns="0" rtlCol="0" anchor="ctr"/>
          <a:lstStyle/>
          <a:p>
            <a:pPr indent="0" marL="0">
              <a:buNone/>
            </a:pPr>
            <a:r>
              <a:rPr lang="en-US" sz="1400" dirty="0">
                <a:solidFill>
                  <a:srgbClr val="0F2A3D"/>
                </a:solidFill>
              </a:rPr>
              <a:t>LLM scoring: Ollama or Groq-compatible API</a:t>
            </a:r>
            <a:endParaRPr lang="en-US" sz="1400" dirty="0"/>
          </a:p>
        </p:txBody>
      </p:sp>
      <p:sp>
        <p:nvSpPr>
          <p:cNvPr id="18" name="State 4"/>
          <p:cNvSpPr/>
          <p:nvPr/>
        </p:nvSpPr>
        <p:spPr>
          <a:xfrm>
            <a:off x="6858000" y="2587752"/>
            <a:ext cx="1645920" cy="274320"/>
          </a:xfrm>
          <a:prstGeom prst="roundRect">
            <a:avLst>
              <a:gd name="adj" fmla="val 50000"/>
            </a:avLst>
          </a:prstGeom>
          <a:solidFill>
            <a:srgbClr val="E59A1F"/>
          </a:solidFill>
          <a:ln w="12700">
            <a:solidFill>
              <a:srgbClr val="E59A1F"/>
            </a:solidFill>
            <a:prstDash val="solid"/>
          </a:ln>
        </p:spPr>
      </p:sp>
      <p:sp>
        <p:nvSpPr>
          <p:cNvPr id="19" name="Text 17"/>
          <p:cNvSpPr txBox="1"/>
          <p:nvPr/>
        </p:nvSpPr>
        <p:spPr>
          <a:xfrm>
            <a:off x="6858000" y="2587752"/>
            <a:ext cx="1645920" cy="274320"/>
          </a:xfrm>
          <a:prstGeom prst="rect">
            <a:avLst/>
          </a:prstGeom>
          <a:noFill/>
          <a:ln/>
        </p:spPr>
        <p:txBody>
          <a:bodyPr wrap="square" lIns="0" tIns="0" rIns="0" bIns="0" rtlCol="0" anchor="ctr"/>
          <a:lstStyle/>
          <a:p>
            <a:pPr algn="ctr" indent="0" marL="0">
              <a:buNone/>
            </a:pPr>
            <a:r>
              <a:rPr lang="en-US" sz="1200" b="1" dirty="0">
                <a:solidFill>
                  <a:srgbClr val="0F2A3D"/>
                </a:solidFill>
              </a:rPr>
              <a:t>Real adapter</a:t>
            </a:r>
            <a:endParaRPr lang="en-US" sz="1200" dirty="0"/>
          </a:p>
        </p:txBody>
      </p:sp>
      <p:sp>
        <p:nvSpPr>
          <p:cNvPr id="20" name="Row 5"/>
          <p:cNvSpPr/>
          <p:nvPr/>
        </p:nvSpPr>
        <p:spPr>
          <a:xfrm>
            <a:off x="457200" y="2999232"/>
            <a:ext cx="8229600" cy="402336"/>
          </a:xfrm>
          <a:prstGeom prst="roundRect">
            <a:avLst>
              <a:gd name="adj" fmla="val 13636"/>
            </a:avLst>
          </a:prstGeom>
          <a:solidFill>
            <a:srgbClr val="F4F7F9"/>
          </a:solidFill>
          <a:ln w="6350">
            <a:solidFill>
              <a:srgbClr val="D5DEE5"/>
            </a:solidFill>
            <a:prstDash val="solid"/>
          </a:ln>
        </p:spPr>
      </p:sp>
      <p:sp>
        <p:nvSpPr>
          <p:cNvPr id="21" name="Text 19"/>
          <p:cNvSpPr txBox="1"/>
          <p:nvPr/>
        </p:nvSpPr>
        <p:spPr>
          <a:xfrm>
            <a:off x="640080" y="2999232"/>
            <a:ext cx="5669280" cy="402336"/>
          </a:xfrm>
          <a:prstGeom prst="rect">
            <a:avLst/>
          </a:prstGeom>
          <a:noFill/>
          <a:ln/>
        </p:spPr>
        <p:txBody>
          <a:bodyPr wrap="square" lIns="0" tIns="0" rIns="0" bIns="0" rtlCol="0" anchor="ctr"/>
          <a:lstStyle/>
          <a:p>
            <a:pPr indent="0" marL="0">
              <a:buNone/>
            </a:pPr>
            <a:r>
              <a:rPr lang="en-US" sz="1400" dirty="0">
                <a:solidFill>
                  <a:srgbClr val="0F2A3D"/>
                </a:solidFill>
              </a:rPr>
              <a:t>Deterministic scorer, mock embeddings</a:t>
            </a:r>
            <a:endParaRPr lang="en-US" sz="1400" dirty="0"/>
          </a:p>
        </p:txBody>
      </p:sp>
      <p:sp>
        <p:nvSpPr>
          <p:cNvPr id="22" name="State 5"/>
          <p:cNvSpPr/>
          <p:nvPr/>
        </p:nvSpPr>
        <p:spPr>
          <a:xfrm>
            <a:off x="6858000" y="3063240"/>
            <a:ext cx="1645920" cy="274320"/>
          </a:xfrm>
          <a:prstGeom prst="roundRect">
            <a:avLst>
              <a:gd name="adj" fmla="val 50000"/>
            </a:avLst>
          </a:prstGeom>
          <a:solidFill>
            <a:srgbClr val="8795A1"/>
          </a:solidFill>
          <a:ln w="12700">
            <a:solidFill>
              <a:srgbClr val="8795A1"/>
            </a:solidFill>
            <a:prstDash val="solid"/>
          </a:ln>
        </p:spPr>
      </p:sp>
      <p:sp>
        <p:nvSpPr>
          <p:cNvPr id="23" name="Text 21"/>
          <p:cNvSpPr txBox="1"/>
          <p:nvPr/>
        </p:nvSpPr>
        <p:spPr>
          <a:xfrm>
            <a:off x="6858000" y="3063240"/>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rPr>
              <a:t>Test only</a:t>
            </a:r>
            <a:endParaRPr lang="en-US" sz="1200" dirty="0"/>
          </a:p>
        </p:txBody>
      </p:sp>
      <p:sp>
        <p:nvSpPr>
          <p:cNvPr id="24" name="Row 6"/>
          <p:cNvSpPr/>
          <p:nvPr/>
        </p:nvSpPr>
        <p:spPr>
          <a:xfrm>
            <a:off x="457200" y="3474720"/>
            <a:ext cx="8229600" cy="402336"/>
          </a:xfrm>
          <a:prstGeom prst="roundRect">
            <a:avLst>
              <a:gd name="adj" fmla="val 13636"/>
            </a:avLst>
          </a:prstGeom>
          <a:solidFill>
            <a:srgbClr val="FFFFFF"/>
          </a:solidFill>
          <a:ln w="6350">
            <a:solidFill>
              <a:srgbClr val="D5DEE5"/>
            </a:solidFill>
            <a:prstDash val="solid"/>
          </a:ln>
        </p:spPr>
      </p:sp>
      <p:sp>
        <p:nvSpPr>
          <p:cNvPr id="25" name="Text 23"/>
          <p:cNvSpPr txBox="1"/>
          <p:nvPr/>
        </p:nvSpPr>
        <p:spPr>
          <a:xfrm>
            <a:off x="640080" y="3474720"/>
            <a:ext cx="5669280" cy="402336"/>
          </a:xfrm>
          <a:prstGeom prst="rect">
            <a:avLst/>
          </a:prstGeom>
          <a:noFill/>
          <a:ln/>
        </p:spPr>
        <p:txBody>
          <a:bodyPr wrap="square" lIns="0" tIns="0" rIns="0" bIns="0" rtlCol="0" anchor="ctr"/>
          <a:lstStyle/>
          <a:p>
            <a:pPr indent="0" marL="0">
              <a:buNone/>
            </a:pPr>
            <a:r>
              <a:rPr lang="en-US" sz="1400" dirty="0">
                <a:solidFill>
                  <a:srgbClr val="0F2A3D"/>
                </a:solidFill>
              </a:rPr>
              <a:t>Fixture documents (AAPL sample)</a:t>
            </a:r>
            <a:endParaRPr lang="en-US" sz="1400" dirty="0"/>
          </a:p>
        </p:txBody>
      </p:sp>
      <p:sp>
        <p:nvSpPr>
          <p:cNvPr id="26" name="State 6"/>
          <p:cNvSpPr/>
          <p:nvPr/>
        </p:nvSpPr>
        <p:spPr>
          <a:xfrm>
            <a:off x="6858000" y="3538728"/>
            <a:ext cx="1645920" cy="274320"/>
          </a:xfrm>
          <a:prstGeom prst="roundRect">
            <a:avLst>
              <a:gd name="adj" fmla="val 50000"/>
            </a:avLst>
          </a:prstGeom>
          <a:solidFill>
            <a:srgbClr val="8795A1"/>
          </a:solidFill>
          <a:ln w="12700">
            <a:solidFill>
              <a:srgbClr val="8795A1"/>
            </a:solidFill>
            <a:prstDash val="solid"/>
          </a:ln>
        </p:spPr>
      </p:sp>
      <p:sp>
        <p:nvSpPr>
          <p:cNvPr id="27" name="Text 25"/>
          <p:cNvSpPr txBox="1"/>
          <p:nvPr/>
        </p:nvSpPr>
        <p:spPr>
          <a:xfrm>
            <a:off x="6858000" y="3538728"/>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rPr>
              <a:t>Test only</a:t>
            </a:r>
            <a:endParaRPr lang="en-US" sz="1200" dirty="0"/>
          </a:p>
        </p:txBody>
      </p:sp>
      <p:sp>
        <p:nvSpPr>
          <p:cNvPr id="28" name="Row 7"/>
          <p:cNvSpPr/>
          <p:nvPr/>
        </p:nvSpPr>
        <p:spPr>
          <a:xfrm>
            <a:off x="457200" y="3950208"/>
            <a:ext cx="8229600" cy="402336"/>
          </a:xfrm>
          <a:prstGeom prst="roundRect">
            <a:avLst>
              <a:gd name="adj" fmla="val 13636"/>
            </a:avLst>
          </a:prstGeom>
          <a:solidFill>
            <a:srgbClr val="F4F7F9"/>
          </a:solidFill>
          <a:ln w="6350">
            <a:solidFill>
              <a:srgbClr val="D5DEE5"/>
            </a:solidFill>
            <a:prstDash val="solid"/>
          </a:ln>
        </p:spPr>
      </p:sp>
      <p:sp>
        <p:nvSpPr>
          <p:cNvPr id="29" name="Text 27"/>
          <p:cNvSpPr txBox="1"/>
          <p:nvPr/>
        </p:nvSpPr>
        <p:spPr>
          <a:xfrm>
            <a:off x="640080" y="3950208"/>
            <a:ext cx="5669280" cy="402336"/>
          </a:xfrm>
          <a:prstGeom prst="rect">
            <a:avLst/>
          </a:prstGeom>
          <a:noFill/>
          <a:ln/>
        </p:spPr>
        <p:txBody>
          <a:bodyPr wrap="square" lIns="0" tIns="0" rIns="0" bIns="0" rtlCol="0" anchor="ctr"/>
          <a:lstStyle/>
          <a:p>
            <a:pPr indent="0" marL="0">
              <a:buNone/>
            </a:pPr>
            <a:r>
              <a:rPr lang="en-US" sz="1400" dirty="0">
                <a:solidFill>
                  <a:srgbClr val="0F2A3D"/>
                </a:solidFill>
              </a:rPr>
              <a:t>Scheduler, Prometheus and Grafana metrics</a:t>
            </a:r>
            <a:endParaRPr lang="en-US" sz="1400" dirty="0"/>
          </a:p>
        </p:txBody>
      </p:sp>
      <p:sp>
        <p:nvSpPr>
          <p:cNvPr id="30" name="State 7"/>
          <p:cNvSpPr/>
          <p:nvPr/>
        </p:nvSpPr>
        <p:spPr>
          <a:xfrm>
            <a:off x="6858000" y="4014216"/>
            <a:ext cx="1645920" cy="274320"/>
          </a:xfrm>
          <a:prstGeom prst="roundRect">
            <a:avLst>
              <a:gd name="adj" fmla="val 50000"/>
            </a:avLst>
          </a:prstGeom>
          <a:solidFill>
            <a:srgbClr val="B8492A"/>
          </a:solidFill>
          <a:ln w="12700">
            <a:solidFill>
              <a:srgbClr val="B8492A"/>
            </a:solidFill>
            <a:prstDash val="solid"/>
          </a:ln>
        </p:spPr>
      </p:sp>
      <p:sp>
        <p:nvSpPr>
          <p:cNvPr id="31" name="Text 29"/>
          <p:cNvSpPr txBox="1"/>
          <p:nvPr/>
        </p:nvSpPr>
        <p:spPr>
          <a:xfrm>
            <a:off x="6858000" y="4014216"/>
            <a:ext cx="1645920" cy="274320"/>
          </a:xfrm>
          <a:prstGeom prst="rect">
            <a:avLst/>
          </a:prstGeom>
          <a:noFill/>
          <a:ln/>
        </p:spPr>
        <p:txBody>
          <a:bodyPr wrap="square" lIns="0" tIns="0" rIns="0" bIns="0" rtlCol="0" anchor="ctr"/>
          <a:lstStyle/>
          <a:p>
            <a:pPr algn="ctr" indent="0" marL="0">
              <a:buNone/>
            </a:pPr>
            <a:r>
              <a:rPr lang="en-US" sz="1200" b="1" dirty="0">
                <a:solidFill>
                  <a:srgbClr val="FFFFFF"/>
                </a:solidFill>
              </a:rPr>
              <a:t>Not built</a:t>
            </a:r>
            <a:endParaRPr lang="en-US" sz="1200" dirty="0"/>
          </a:p>
        </p:txBody>
      </p:sp>
      <p:sp>
        <p:nvSpPr>
          <p:cNvPr id="32" name="Text 30"/>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200" i="1" dirty="0">
                <a:solidFill>
                  <a:srgbClr val="4A6275"/>
                </a:solidFill>
              </a:rPr>
              <a:t>Research results require real embeddings; mock components exist only for tests and quick demos.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0F2A3D"/>
                </a:solidFill>
                <a:latin typeface="Cambria" pitchFamily="34" charset="0"/>
                <a:ea typeface="Cambria" pitchFamily="34" charset="-122"/>
                <a:cs typeface="Cambria" pitchFamily="34" charset="-120"/>
              </a:rPr>
              <a:t>What is not done yet</a:t>
            </a:r>
            <a:endParaRPr lang="en-US" sz="3200" dirty="0"/>
          </a:p>
        </p:txBody>
      </p:sp>
      <p:sp>
        <p:nvSpPr>
          <p:cNvPr id="3" name="Text 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1000" dirty="0">
                <a:solidFill>
                  <a:srgbClr val="8795A1"/>
                </a:solidFill>
              </a:rPr>
              <a:t>13</a:t>
            </a:r>
            <a:endParaRPr lang="en-US" sz="1000" dirty="0"/>
          </a:p>
        </p:txBody>
      </p:sp>
      <p:pic>
        <p:nvPicPr>
          <p:cNvPr id="4" name="Roadmap diagram" descr="Roadmap diagram">    </p:cNvPr>
          <p:cNvPicPr>
            <a:picLocks noChangeAspect="1"/>
          </p:cNvPicPr>
          <p:nvPr/>
        </p:nvPicPr>
        <p:blipFill>
          <a:blip r:embed="rId1"/>
          <a:stretch>
            <a:fillRect/>
          </a:stretch>
        </p:blipFill>
        <p:spPr>
          <a:xfrm>
            <a:off x="365760" y="1200383"/>
            <a:ext cx="8412480" cy="2811313"/>
          </a:xfrm>
          <a:prstGeom prst="rect">
            <a:avLst/>
          </a:prstGeom>
        </p:spPr>
      </p:pic>
      <p:sp>
        <p:nvSpPr>
          <p:cNvPr id="5" name="Shape 2"/>
          <p:cNvSpPr/>
          <p:nvPr/>
        </p:nvSpPr>
        <p:spPr>
          <a:xfrm>
            <a:off x="457200" y="4526280"/>
            <a:ext cx="201168" cy="146304"/>
          </a:xfrm>
          <a:prstGeom prst="rect">
            <a:avLst/>
          </a:prstGeom>
          <a:solidFill>
            <a:srgbClr val="E6F4F1"/>
          </a:solidFill>
          <a:ln w="15875">
            <a:solidFill>
              <a:srgbClr val="1B8F7A"/>
            </a:solidFill>
            <a:prstDash val="solid"/>
          </a:ln>
        </p:spPr>
      </p:sp>
      <p:sp>
        <p:nvSpPr>
          <p:cNvPr id="6" name="Text 3"/>
          <p:cNvSpPr txBox="1"/>
          <p:nvPr/>
        </p:nvSpPr>
        <p:spPr>
          <a:xfrm>
            <a:off x="731520" y="4480560"/>
            <a:ext cx="1463040" cy="237744"/>
          </a:xfrm>
          <a:prstGeom prst="rect">
            <a:avLst/>
          </a:prstGeom>
          <a:noFill/>
          <a:ln/>
        </p:spPr>
        <p:txBody>
          <a:bodyPr wrap="square" lIns="0" tIns="0" rIns="0" bIns="0" rtlCol="0" anchor="ctr"/>
          <a:lstStyle/>
          <a:p>
            <a:pPr indent="0" marL="0">
              <a:buNone/>
            </a:pPr>
            <a:r>
              <a:rPr lang="en-US" sz="1100" dirty="0">
                <a:solidFill>
                  <a:srgbClr val="4A6275"/>
                </a:solidFill>
              </a:rPr>
              <a:t>Working</a:t>
            </a:r>
            <a:endParaRPr lang="en-US" sz="1100" dirty="0"/>
          </a:p>
        </p:txBody>
      </p:sp>
      <p:sp>
        <p:nvSpPr>
          <p:cNvPr id="7" name="Shape 4"/>
          <p:cNvSpPr/>
          <p:nvPr/>
        </p:nvSpPr>
        <p:spPr>
          <a:xfrm>
            <a:off x="1595628" y="4526280"/>
            <a:ext cx="201168" cy="146304"/>
          </a:xfrm>
          <a:prstGeom prst="rect">
            <a:avLst/>
          </a:prstGeom>
          <a:solidFill>
            <a:srgbClr val="FFF3DD"/>
          </a:solidFill>
          <a:ln w="15875">
            <a:solidFill>
              <a:srgbClr val="E59A1F"/>
            </a:solidFill>
            <a:prstDash val="solid"/>
          </a:ln>
        </p:spPr>
      </p:sp>
      <p:sp>
        <p:nvSpPr>
          <p:cNvPr id="8" name="Text 5"/>
          <p:cNvSpPr txBox="1"/>
          <p:nvPr/>
        </p:nvSpPr>
        <p:spPr>
          <a:xfrm>
            <a:off x="1869948" y="4480560"/>
            <a:ext cx="1463040" cy="237744"/>
          </a:xfrm>
          <a:prstGeom prst="rect">
            <a:avLst/>
          </a:prstGeom>
          <a:noFill/>
          <a:ln/>
        </p:spPr>
        <p:txBody>
          <a:bodyPr wrap="square" lIns="0" tIns="0" rIns="0" bIns="0" rtlCol="0" anchor="ctr"/>
          <a:lstStyle/>
          <a:p>
            <a:pPr indent="0" marL="0">
              <a:buNone/>
            </a:pPr>
            <a:r>
              <a:rPr lang="en-US" sz="1100" dirty="0">
                <a:solidFill>
                  <a:srgbClr val="4A6275"/>
                </a:solidFill>
              </a:rPr>
              <a:t>Partial / in review</a:t>
            </a:r>
            <a:endParaRPr lang="en-US" sz="1100" dirty="0"/>
          </a:p>
        </p:txBody>
      </p:sp>
      <p:sp>
        <p:nvSpPr>
          <p:cNvPr id="9" name="Shape 6"/>
          <p:cNvSpPr/>
          <p:nvPr/>
        </p:nvSpPr>
        <p:spPr>
          <a:xfrm>
            <a:off x="3666744" y="4526280"/>
            <a:ext cx="201168" cy="146304"/>
          </a:xfrm>
          <a:prstGeom prst="rect">
            <a:avLst/>
          </a:prstGeom>
          <a:solidFill>
            <a:srgbClr val="F1F3F5"/>
          </a:solidFill>
          <a:ln w="15875">
            <a:solidFill>
              <a:srgbClr val="8795A1"/>
            </a:solidFill>
            <a:prstDash val="dash"/>
          </a:ln>
        </p:spPr>
      </p:sp>
      <p:sp>
        <p:nvSpPr>
          <p:cNvPr id="10" name="Text 7"/>
          <p:cNvSpPr txBox="1"/>
          <p:nvPr/>
        </p:nvSpPr>
        <p:spPr>
          <a:xfrm>
            <a:off x="3941064" y="4480560"/>
            <a:ext cx="1463040" cy="237744"/>
          </a:xfrm>
          <a:prstGeom prst="rect">
            <a:avLst/>
          </a:prstGeom>
          <a:noFill/>
          <a:ln/>
        </p:spPr>
        <p:txBody>
          <a:bodyPr wrap="square" lIns="0" tIns="0" rIns="0" bIns="0" rtlCol="0" anchor="ctr"/>
          <a:lstStyle/>
          <a:p>
            <a:pPr indent="0" marL="0">
              <a:buNone/>
            </a:pPr>
            <a:r>
              <a:rPr lang="en-US" sz="1100" dirty="0">
                <a:solidFill>
                  <a:srgbClr val="4A6275"/>
                </a:solidFill>
              </a:rPr>
              <a:t>Not done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Financial Sentiment System - current state</dc:title>
  <dc:subject>PptxGenJS Presentation</dc:subject>
  <dc:creator>PptxGenJS</dc:creator>
  <cp:lastModifiedBy>PptxGenJS</cp:lastModifiedBy>
  <cp:revision>1</cp:revision>
  <dcterms:created xsi:type="dcterms:W3CDTF">2026-10-29T09:31:13Z</dcterms:created>
  <dcterms:modified xsi:type="dcterms:W3CDTF">2026-10-29T09:31:13Z</dcterms:modified>
</cp:coreProperties>
</file>